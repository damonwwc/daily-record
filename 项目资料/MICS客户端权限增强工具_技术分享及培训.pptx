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6" r:id="rId2"/>
  </p:sldMasterIdLst>
  <p:notesMasterIdLst>
    <p:notesMasterId r:id="rId11"/>
  </p:notesMasterIdLst>
  <p:handoutMasterIdLst>
    <p:handoutMasterId r:id="rId12"/>
  </p:handoutMasterIdLst>
  <p:sldIdLst>
    <p:sldId id="256" r:id="rId3"/>
    <p:sldId id="671" r:id="rId4"/>
    <p:sldId id="4474" r:id="rId5"/>
    <p:sldId id="4470" r:id="rId6"/>
    <p:sldId id="4476" r:id="rId7"/>
    <p:sldId id="4479" r:id="rId8"/>
    <p:sldId id="4480" r:id="rId9"/>
    <p:sldId id="4467" r:id="rId10"/>
  </p:sldIdLst>
  <p:sldSz cx="9144000" cy="5143500" type="screen16x9"/>
  <p:notesSz cx="6735763" cy="9866313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08"/>
    <a:srgbClr val="010F21"/>
    <a:srgbClr val="ED7D31"/>
    <a:srgbClr val="F4B183"/>
    <a:srgbClr val="E94709"/>
    <a:srgbClr val="021E40"/>
    <a:srgbClr val="011641"/>
    <a:srgbClr val="022440"/>
    <a:srgbClr val="011F41"/>
    <a:srgbClr val="012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83822" autoAdjust="0"/>
  </p:normalViewPr>
  <p:slideViewPr>
    <p:cSldViewPr snapToGrid="0">
      <p:cViewPr>
        <p:scale>
          <a:sx n="100" d="100"/>
          <a:sy n="100" d="100"/>
        </p:scale>
        <p:origin x="208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1874" y="-1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9D6CDD76-BE89-47E8-B842-C699F6196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03F8B55B-2511-42A3-917F-FDE0D43FAB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868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99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445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53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5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-1"/>
            <a:ext cx="9226771" cy="5143501"/>
          </a:xfrm>
          <a:prstGeom prst="rect">
            <a:avLst/>
          </a:prstGeom>
        </p:spPr>
      </p:pic>
      <p:pic>
        <p:nvPicPr>
          <p:cNvPr id="16" name="图片 15" descr="∞图标矢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849" y="4600555"/>
            <a:ext cx="1241270" cy="419915"/>
          </a:xfrm>
          <a:prstGeom prst="rect">
            <a:avLst/>
          </a:prstGeom>
        </p:spPr>
      </p:pic>
      <p:pic>
        <p:nvPicPr>
          <p:cNvPr id="6" name="图片 5" descr="1 佳都LOGO-橙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9498" y="9832"/>
            <a:ext cx="1406014" cy="427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 l="-164"/>
          <a:stretch>
            <a:fillRect/>
          </a:stretch>
        </p:blipFill>
        <p:spPr>
          <a:xfrm>
            <a:off x="-13619" y="0"/>
            <a:ext cx="9157619" cy="5150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38170" y="176326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7" y="123306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4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633011" y="4931710"/>
            <a:ext cx="510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900">
                <a:solidFill>
                  <a:prstClr val="black"/>
                </a:solidFill>
              </a:rPr>
              <a:t>No. </a:t>
            </a:r>
            <a:fld id="{DE45FF45-7A4B-4076-8283-A409CD6CF6C6}" type="slidenum">
              <a:rPr lang="en-US" altLang="zh-CN" sz="900" dirty="0" smtClean="0">
                <a:solidFill>
                  <a:prstClr val="black"/>
                </a:solidFill>
              </a:rPr>
              <a:t>‹#›</a:t>
            </a:fld>
            <a:endParaRPr lang="zh-CN" altLang="en-US" sz="900">
              <a:solidFill>
                <a:prstClr val="black"/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381547" y="821867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 l="-164"/>
          <a:stretch>
            <a:fillRect/>
          </a:stretch>
        </p:blipFill>
        <p:spPr>
          <a:xfrm>
            <a:off x="-13618" y="1"/>
            <a:ext cx="9157619" cy="5150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38171" y="176327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8" y="123306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5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633012" y="4931711"/>
            <a:ext cx="51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No. </a:t>
            </a:r>
            <a:fld id="{DE45FF45-7A4B-4076-8283-A409CD6CF6C6}" type="slidenum">
              <a:rPr kumimoji="0" lang="en-US" altLang="zh-CN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3"/>
          <a:stretch>
            <a:fillRect/>
          </a:stretch>
        </p:blipFill>
        <p:spPr>
          <a:xfrm>
            <a:off x="1" y="0"/>
            <a:ext cx="9132437" cy="5143500"/>
          </a:xfrm>
          <a:prstGeom prst="rect">
            <a:avLst/>
          </a:prstGeom>
        </p:spPr>
      </p:pic>
      <p:pic>
        <p:nvPicPr>
          <p:cNvPr id="11" name="图片 10" descr="∞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907155" y="2477929"/>
            <a:ext cx="5270183" cy="2682240"/>
          </a:xfrm>
          <a:prstGeom prst="rect">
            <a:avLst/>
          </a:prstGeom>
        </p:spPr>
      </p:pic>
      <p:pic>
        <p:nvPicPr>
          <p:cNvPr id="7" name="图片 6" descr="未标题-1-01"/>
          <p:cNvPicPr>
            <a:picLocks noChangeAspect="1"/>
          </p:cNvPicPr>
          <p:nvPr userDrawn="1"/>
        </p:nvPicPr>
        <p:blipFill>
          <a:blip r:embed="rId4">
            <a:alphaModFix amt="52000"/>
          </a:blip>
          <a:srcRect r="65429" b="-3726"/>
          <a:stretch>
            <a:fillRect/>
          </a:stretch>
        </p:blipFill>
        <p:spPr>
          <a:xfrm>
            <a:off x="8460105" y="4744403"/>
            <a:ext cx="696278" cy="331470"/>
          </a:xfrm>
          <a:prstGeom prst="rect">
            <a:avLst/>
          </a:prstGeom>
        </p:spPr>
      </p:pic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6986588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软雅黑" charset="-122"/>
                <a:ea typeface="微软雅黑" charset="-122"/>
              </a:defRPr>
            </a:lvl1pPr>
          </a:lstStyle>
          <a:p>
            <a:fld id="{9A23B325-0F9F-4468-8B7C-6B272E81E2C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2" descr="佳都科技集团30周年logo-20220726 - 加粗-0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11817" y="263843"/>
            <a:ext cx="1996916" cy="317659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436725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34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0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3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 l="-164"/>
          <a:stretch>
            <a:fillRect/>
          </a:stretch>
        </p:blipFill>
        <p:spPr>
          <a:xfrm>
            <a:off x="-13619" y="0"/>
            <a:ext cx="9157619" cy="5150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38170" y="176326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7" y="123306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4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633011" y="4931710"/>
            <a:ext cx="510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900">
                <a:solidFill>
                  <a:prstClr val="black"/>
                </a:solidFill>
              </a:rPr>
              <a:t>No. </a:t>
            </a:r>
            <a:fld id="{DE45FF45-7A4B-4076-8283-A409CD6CF6C6}" type="slidenum">
              <a:rPr lang="en-US" altLang="zh-CN" sz="900" dirty="0" smtClean="0">
                <a:solidFill>
                  <a:prstClr val="black"/>
                </a:solidFill>
              </a:rPr>
              <a:t>‹#›</a:t>
            </a:fld>
            <a:endParaRPr lang="zh-CN" altLang="en-US" sz="900">
              <a:solidFill>
                <a:prstClr val="black"/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381547" y="821867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2636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 l="-164"/>
          <a:stretch>
            <a:fillRect/>
          </a:stretch>
        </p:blipFill>
        <p:spPr>
          <a:xfrm>
            <a:off x="-13618" y="1"/>
            <a:ext cx="9157619" cy="5150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38171" y="176327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8" y="123306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5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633012" y="4931711"/>
            <a:ext cx="51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No. </a:t>
            </a:r>
            <a:fld id="{DE45FF45-7A4B-4076-8283-A409CD6CF6C6}" type="slidenum">
              <a:rPr kumimoji="0" lang="en-US" altLang="zh-CN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39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507914" y="95644"/>
            <a:ext cx="1531229" cy="344303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436725" y="674718"/>
            <a:ext cx="395080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290" y="0"/>
            <a:ext cx="9139040" cy="514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2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871" y="133473"/>
            <a:ext cx="7886700" cy="384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507" y="90560"/>
            <a:ext cx="1216128" cy="313023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8448907" y="4928056"/>
            <a:ext cx="5261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fld id="{FCACE164-B1A3-47F8-8BCC-096FEB46433A}" type="slidenum">
              <a:rPr kumimoji="0" lang="zh-CN" altLang="en-US" sz="8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r>
              <a:rPr kumimoji="0" lang="zh-CN" altLang="en-US" sz="800" b="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页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3448" y="4946224"/>
            <a:ext cx="9083040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3" r:id="rId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871" y="133473"/>
            <a:ext cx="7886700" cy="384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507" y="90560"/>
            <a:ext cx="1216128" cy="313023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8448907" y="4928056"/>
            <a:ext cx="5261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fld id="{FCACE164-B1A3-47F8-8BCC-096FEB46433A}" type="slidenum">
              <a:rPr kumimoji="0" lang="zh-CN" altLang="en-US" sz="8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r>
              <a:rPr kumimoji="0" lang="zh-CN" altLang="en-US" sz="800" b="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页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3448" y="4946224"/>
            <a:ext cx="9083040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31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2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ICS&#23458;&#25143;&#31471;&#26435;&#38480;&#22686;&#24378;&#24037;&#20855;_&#35774;&#35745;&#35268;&#26684;&#20070;.doc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ICS&#23458;&#25143;&#31471;&#26435;&#38480;&#22686;&#24378;&#24037;&#20855;_&#37197;&#32622;&#37096;&#32626;&#35828;&#26126;.doc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1" y="1665027"/>
            <a:ext cx="5581933" cy="1707198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</a:rPr>
              <a:t>MICS</a:t>
            </a:r>
            <a:r>
              <a:rPr lang="zh-CN" altLang="en-US" sz="2800" dirty="0">
                <a:solidFill>
                  <a:schemeClr val="bg1"/>
                </a:solidFill>
              </a:rPr>
              <a:t>客户端权限增强工具</a:t>
            </a:r>
            <a:br>
              <a:rPr lang="en-US" altLang="zh-CN" sz="2800" dirty="0">
                <a:solidFill>
                  <a:schemeClr val="bg1"/>
                </a:solidFill>
              </a:rPr>
            </a:br>
            <a:r>
              <a:rPr lang="zh-CN" altLang="en-US" sz="2800" dirty="0">
                <a:solidFill>
                  <a:schemeClr val="bg1"/>
                </a:solidFill>
              </a:rPr>
              <a:t>技术分享及培训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6087D6-7690-55A9-D340-50EAD006FB8B}"/>
              </a:ext>
            </a:extLst>
          </p:cNvPr>
          <p:cNvSpPr txBox="1"/>
          <p:nvPr/>
        </p:nvSpPr>
        <p:spPr>
          <a:xfrm>
            <a:off x="1528144" y="368150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分享人：刘兴昌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17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00" dirty="0">
              <a:solidFill>
                <a:srgbClr val="E9460B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BCDD59B-FBD4-BD48-259F-F79054B76D76}"/>
              </a:ext>
            </a:extLst>
          </p:cNvPr>
          <p:cNvSpPr/>
          <p:nvPr/>
        </p:nvSpPr>
        <p:spPr>
          <a:xfrm>
            <a:off x="2554619" y="1369302"/>
            <a:ext cx="4143559" cy="415370"/>
          </a:xfrm>
          <a:prstGeom prst="roundRect">
            <a:avLst>
              <a:gd name="adj" fmla="val 50000"/>
            </a:avLst>
          </a:prstGeom>
          <a:solidFill>
            <a:srgbClr val="E9470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144905"/>
            <a:endParaRPr lang="zh-CN" altLang="en-US" sz="2255" kern="0">
              <a:solidFill>
                <a:srgbClr val="494B4D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BB01409-778A-4447-EA8D-1A79C139F680}"/>
              </a:ext>
            </a:extLst>
          </p:cNvPr>
          <p:cNvCxnSpPr/>
          <p:nvPr/>
        </p:nvCxnSpPr>
        <p:spPr>
          <a:xfrm>
            <a:off x="3208545" y="1357789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3">
            <a:extLst>
              <a:ext uri="{FF2B5EF4-FFF2-40B4-BE49-F238E27FC236}">
                <a16:creationId xmlns:a16="http://schemas.microsoft.com/office/drawing/2014/main" id="{50E08476-EFEA-7EF9-C631-DFA2D9E24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729" y="1369302"/>
            <a:ext cx="331470" cy="41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1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2B920ABB-F97C-1EAB-9E2B-9B3A5A781F83}"/>
              </a:ext>
            </a:extLst>
          </p:cNvPr>
          <p:cNvSpPr txBox="1"/>
          <p:nvPr/>
        </p:nvSpPr>
        <p:spPr bwMode="auto">
          <a:xfrm>
            <a:off x="3452514" y="1369302"/>
            <a:ext cx="126188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zh-CN" altLang="en-US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功能简介</a:t>
            </a:r>
            <a:endParaRPr lang="zh-CN" altLang="zh-CN" sz="2100" b="1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28DC390-031E-3E2D-8CCE-825A7FBD6878}"/>
              </a:ext>
            </a:extLst>
          </p:cNvPr>
          <p:cNvSpPr/>
          <p:nvPr/>
        </p:nvSpPr>
        <p:spPr>
          <a:xfrm>
            <a:off x="2549539" y="1831582"/>
            <a:ext cx="4143559" cy="415370"/>
          </a:xfrm>
          <a:prstGeom prst="roundRect">
            <a:avLst>
              <a:gd name="adj" fmla="val 50000"/>
            </a:avLst>
          </a:prstGeom>
          <a:solidFill>
            <a:srgbClr val="E947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144905"/>
            <a:endParaRPr lang="zh-CN" altLang="en-US" sz="2255" kern="0">
              <a:solidFill>
                <a:srgbClr val="494B4D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A7141D9-2486-737E-D0CD-D6E2AD9C8754}"/>
              </a:ext>
            </a:extLst>
          </p:cNvPr>
          <p:cNvCxnSpPr/>
          <p:nvPr/>
        </p:nvCxnSpPr>
        <p:spPr>
          <a:xfrm>
            <a:off x="3203465" y="1820069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3">
            <a:extLst>
              <a:ext uri="{FF2B5EF4-FFF2-40B4-BE49-F238E27FC236}">
                <a16:creationId xmlns:a16="http://schemas.microsoft.com/office/drawing/2014/main" id="{D21BE146-3599-80DB-CD6C-45F6DA7E8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49" y="1831582"/>
            <a:ext cx="333746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2</a:t>
            </a:r>
          </a:p>
          <a:p>
            <a:pPr defTabSz="676275">
              <a:defRPr/>
            </a:pPr>
            <a:endParaRPr lang="en-US" altLang="zh-CN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9B37196E-97F6-1AA2-9DE9-199A341898C5}"/>
              </a:ext>
            </a:extLst>
          </p:cNvPr>
          <p:cNvSpPr txBox="1"/>
          <p:nvPr/>
        </p:nvSpPr>
        <p:spPr bwMode="auto">
          <a:xfrm>
            <a:off x="3447434" y="1831582"/>
            <a:ext cx="12522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zh-CN" altLang="en-US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部署流程</a:t>
            </a:r>
            <a:endParaRPr lang="zh-CN" altLang="en-US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4DF54D1-1699-E76F-344E-0482939BD763}"/>
              </a:ext>
            </a:extLst>
          </p:cNvPr>
          <p:cNvSpPr/>
          <p:nvPr/>
        </p:nvSpPr>
        <p:spPr>
          <a:xfrm>
            <a:off x="2554619" y="2293862"/>
            <a:ext cx="4143559" cy="415370"/>
          </a:xfrm>
          <a:prstGeom prst="roundRect">
            <a:avLst>
              <a:gd name="adj" fmla="val 50000"/>
            </a:avLst>
          </a:prstGeom>
          <a:solidFill>
            <a:srgbClr val="E947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144905"/>
            <a:endParaRPr lang="zh-CN" altLang="en-US" sz="2255" kern="0">
              <a:solidFill>
                <a:srgbClr val="494B4D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77A6DCA-12F9-A5F4-5CE0-4CE68D7AADA0}"/>
              </a:ext>
            </a:extLst>
          </p:cNvPr>
          <p:cNvCxnSpPr/>
          <p:nvPr/>
        </p:nvCxnSpPr>
        <p:spPr>
          <a:xfrm>
            <a:off x="3208545" y="2282349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3">
            <a:extLst>
              <a:ext uri="{FF2B5EF4-FFF2-40B4-BE49-F238E27FC236}">
                <a16:creationId xmlns:a16="http://schemas.microsoft.com/office/drawing/2014/main" id="{60AD1A24-CB19-A5AA-6F92-33067B321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729" y="2293862"/>
            <a:ext cx="333746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3</a:t>
            </a:r>
          </a:p>
          <a:p>
            <a:pPr defTabSz="676275">
              <a:defRPr/>
            </a:pPr>
            <a:endParaRPr lang="en-US" altLang="zh-CN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id="{A64AC356-82DE-CF09-5549-2C50B621FF2C}"/>
              </a:ext>
            </a:extLst>
          </p:cNvPr>
          <p:cNvSpPr txBox="1"/>
          <p:nvPr/>
        </p:nvSpPr>
        <p:spPr bwMode="auto">
          <a:xfrm>
            <a:off x="3452514" y="2293862"/>
            <a:ext cx="72327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zh-CN" altLang="en-US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演示</a:t>
            </a:r>
            <a:endParaRPr lang="zh-CN" altLang="en-US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D3E430-6AFD-2468-A9CE-09D060BEC13A}"/>
              </a:ext>
            </a:extLst>
          </p:cNvPr>
          <p:cNvCxnSpPr/>
          <p:nvPr/>
        </p:nvCxnSpPr>
        <p:spPr>
          <a:xfrm>
            <a:off x="3203465" y="2734469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3">
            <a:extLst>
              <a:ext uri="{FF2B5EF4-FFF2-40B4-BE49-F238E27FC236}">
                <a16:creationId xmlns:a16="http://schemas.microsoft.com/office/drawing/2014/main" id="{BAB180E4-4357-D08C-5C9A-DD0EBF4C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49" y="2745982"/>
            <a:ext cx="333746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4</a:t>
            </a:r>
          </a:p>
          <a:p>
            <a:pPr defTabSz="676275">
              <a:defRPr/>
            </a:pPr>
            <a:endParaRPr lang="en-US" altLang="zh-CN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E8E5EA37-3594-27DA-1EB0-9A926F8BE4CF}"/>
              </a:ext>
            </a:extLst>
          </p:cNvPr>
          <p:cNvSpPr txBox="1"/>
          <p:nvPr/>
        </p:nvSpPr>
        <p:spPr bwMode="auto">
          <a:xfrm>
            <a:off x="3447434" y="2745982"/>
            <a:ext cx="247375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net-snmp</a:t>
            </a:r>
            <a:r>
              <a:rPr lang="zh-CN" altLang="en-US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自定义</a:t>
            </a: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IB</a:t>
            </a:r>
            <a:endParaRPr lang="zh-CN" altLang="en-US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937A825-D081-061B-8EF5-EE8240B3B661}"/>
              </a:ext>
            </a:extLst>
          </p:cNvPr>
          <p:cNvCxnSpPr/>
          <p:nvPr/>
        </p:nvCxnSpPr>
        <p:spPr>
          <a:xfrm>
            <a:off x="3203465" y="3218422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3">
            <a:extLst>
              <a:ext uri="{FF2B5EF4-FFF2-40B4-BE49-F238E27FC236}">
                <a16:creationId xmlns:a16="http://schemas.microsoft.com/office/drawing/2014/main" id="{71801EC8-912A-2B72-1460-6081A4328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49" y="3229935"/>
            <a:ext cx="333746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5</a:t>
            </a:r>
          </a:p>
          <a:p>
            <a:pPr defTabSz="676275">
              <a:defRPr/>
            </a:pPr>
            <a:endParaRPr lang="en-US" altLang="zh-CN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2C065D38-618A-07D9-8551-F98C7E425799}"/>
              </a:ext>
            </a:extLst>
          </p:cNvPr>
          <p:cNvSpPr txBox="1"/>
          <p:nvPr/>
        </p:nvSpPr>
        <p:spPr bwMode="auto">
          <a:xfrm>
            <a:off x="3447434" y="3229935"/>
            <a:ext cx="112883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76275">
              <a:defRPr/>
            </a:pPr>
            <a:r>
              <a:rPr lang="zh-CN" altLang="en-US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常用</a:t>
            </a:r>
            <a:r>
              <a:rPr lang="en-US" altLang="zh-CN" sz="2100" b="1" ker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oid</a:t>
            </a:r>
            <a:endParaRPr lang="zh-CN" altLang="en-US" sz="21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CFD34C2-BC7E-4B03-B587-526D19F8E5D8}"/>
              </a:ext>
            </a:extLst>
          </p:cNvPr>
          <p:cNvCxnSpPr/>
          <p:nvPr/>
        </p:nvCxnSpPr>
        <p:spPr>
          <a:xfrm>
            <a:off x="3214099" y="3718155"/>
            <a:ext cx="0" cy="438396"/>
          </a:xfrm>
          <a:prstGeom prst="line">
            <a:avLst/>
          </a:prstGeom>
          <a:solidFill>
            <a:schemeClr val="bg2">
              <a:lumMod val="65000"/>
            </a:schemeClr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功能简介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80" b="0" dirty="0">
              <a:solidFill>
                <a:srgbClr val="E9460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756B80-C862-4697-A3D9-EA893B7F7F2E}"/>
              </a:ext>
            </a:extLst>
          </p:cNvPr>
          <p:cNvSpPr txBox="1"/>
          <p:nvPr/>
        </p:nvSpPr>
        <p:spPr>
          <a:xfrm>
            <a:off x="680484" y="1006549"/>
            <a:ext cx="75916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10F21"/>
                </a:solidFill>
                <a:latin typeface="Söhne"/>
              </a:rPr>
              <a:t>         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MICS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客户端权限增强</a:t>
            </a:r>
            <a:r>
              <a:rPr lang="zh-CN" altLang="en-US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工具主要用于新旧系统的权限控制和数据互通</a:t>
            </a:r>
            <a:r>
              <a:rPr lang="zh-CN" altLang="en-US" kern="100" dirty="0"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。</a:t>
            </a:r>
            <a:endParaRPr lang="en-US" altLang="zh-CN" kern="100" dirty="0"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18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en-US" altLang="zh-CN" kern="100" dirty="0"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MICS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客户端权限增强工具</a:t>
            </a:r>
            <a:r>
              <a:rPr lang="zh-CN" altLang="en-US" kern="100" dirty="0"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部署于旧系统工作站上，通过配置文件方式进行参数配置，以后台进程的方式运行。</a:t>
            </a:r>
            <a:endParaRPr lang="en-US" altLang="zh-CN" kern="100" dirty="0"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kern="1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（功能实现详见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MICS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客户端权限增强工具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_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设计规格书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.docx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Söhne"/>
            </a:endParaRPr>
          </a:p>
          <a:p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127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部署流程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80" b="0" dirty="0">
              <a:solidFill>
                <a:srgbClr val="E9460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87C08F-D9D0-8073-6045-5A28D0D0DE69}"/>
              </a:ext>
            </a:extLst>
          </p:cNvPr>
          <p:cNvSpPr txBox="1"/>
          <p:nvPr/>
        </p:nvSpPr>
        <p:spPr>
          <a:xfrm>
            <a:off x="415290" y="927016"/>
            <a:ext cx="83134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10F21"/>
                </a:solidFill>
                <a:latin typeface="Söhne"/>
              </a:rPr>
              <a:t>采用绿色免安装方式部署，其简单部署流程如下：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  <a:p>
            <a:r>
              <a:rPr lang="en-US" altLang="zh-CN" dirty="0">
                <a:solidFill>
                  <a:srgbClr val="010F21"/>
                </a:solidFill>
                <a:latin typeface="Söhne"/>
              </a:rPr>
              <a:t>1</a:t>
            </a:r>
            <a:r>
              <a:rPr lang="zh-CN" altLang="en-US" dirty="0">
                <a:solidFill>
                  <a:srgbClr val="010F21"/>
                </a:solidFill>
                <a:latin typeface="Söhne"/>
              </a:rPr>
              <a:t>、解压软件包；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  <a:p>
            <a:endParaRPr lang="en-US" altLang="zh-CN" dirty="0">
              <a:solidFill>
                <a:srgbClr val="010F21"/>
              </a:solidFill>
              <a:latin typeface="Söhne"/>
            </a:endParaRPr>
          </a:p>
          <a:p>
            <a:r>
              <a:rPr lang="en-US" altLang="zh-CN" dirty="0">
                <a:solidFill>
                  <a:srgbClr val="010F21"/>
                </a:solidFill>
                <a:latin typeface="Söhne"/>
              </a:rPr>
              <a:t>2</a:t>
            </a:r>
            <a:r>
              <a:rPr lang="zh-CN" altLang="en-US" dirty="0">
                <a:solidFill>
                  <a:srgbClr val="010F21"/>
                </a:solidFill>
                <a:latin typeface="Söhne"/>
              </a:rPr>
              <a:t>、进入软件包目录：</a:t>
            </a:r>
            <a:r>
              <a:rPr lang="en-US" altLang="zh-CN" dirty="0">
                <a:solidFill>
                  <a:srgbClr val="010F21"/>
                </a:solidFill>
                <a:latin typeface="Söhne"/>
              </a:rPr>
              <a:t>/Debug/Data/,</a:t>
            </a:r>
            <a:r>
              <a:rPr lang="zh-CN" altLang="en-US" dirty="0">
                <a:solidFill>
                  <a:srgbClr val="010F21"/>
                </a:solidFill>
                <a:latin typeface="Söhne"/>
              </a:rPr>
              <a:t>修改相关配置文件内容；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  <a:p>
            <a:endParaRPr lang="en-US" altLang="zh-CN" dirty="0">
              <a:solidFill>
                <a:srgbClr val="010F21"/>
              </a:solidFill>
              <a:latin typeface="Söhne"/>
            </a:endParaRPr>
          </a:p>
          <a:p>
            <a:r>
              <a:rPr lang="en-US" altLang="zh-CN" dirty="0">
                <a:solidFill>
                  <a:srgbClr val="010F21"/>
                </a:solidFill>
                <a:latin typeface="Söhne"/>
              </a:rPr>
              <a:t>3</a:t>
            </a:r>
            <a:r>
              <a:rPr lang="zh-CN" altLang="en-US" dirty="0">
                <a:solidFill>
                  <a:srgbClr val="010F21"/>
                </a:solidFill>
                <a:latin typeface="Söhne"/>
              </a:rPr>
              <a:t>、运行</a:t>
            </a:r>
            <a:r>
              <a:rPr lang="en-US" altLang="zh-CN" dirty="0">
                <a:solidFill>
                  <a:srgbClr val="010F21"/>
                </a:solidFill>
                <a:latin typeface="Söhne"/>
              </a:rPr>
              <a:t>/Debug/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Client.RightToolForm.exe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，即完成部署。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（详见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MICS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客户端权限增强工具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_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配置部署说明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3" action="ppaction://hlinkfile"/>
              </a:rPr>
              <a:t>.docx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Söhne"/>
            </a:endParaRPr>
          </a:p>
          <a:p>
            <a:endParaRPr lang="en-US" altLang="zh-CN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9148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80" b="0" dirty="0">
              <a:solidFill>
                <a:srgbClr val="E9460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87C08F-D9D0-8073-6045-5A28D0D0DE69}"/>
              </a:ext>
            </a:extLst>
          </p:cNvPr>
          <p:cNvSpPr txBox="1"/>
          <p:nvPr/>
        </p:nvSpPr>
        <p:spPr>
          <a:xfrm>
            <a:off x="342359" y="824432"/>
            <a:ext cx="831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10F21"/>
                </a:solidFill>
                <a:latin typeface="Söhne"/>
              </a:rPr>
              <a:t>监控面板权限控制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741C83-BB44-BB39-E029-B44545A4F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1193764"/>
            <a:ext cx="6934200" cy="39004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74348B-C7E9-DFDC-ED66-2B4414CAEE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03" y="2187923"/>
            <a:ext cx="1778354" cy="21311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C17AA1-D9F9-AA23-F281-CAF64E8446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887" y="2213672"/>
            <a:ext cx="1778354" cy="207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80" b="0" dirty="0">
              <a:solidFill>
                <a:srgbClr val="E9460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87C08F-D9D0-8073-6045-5A28D0D0DE69}"/>
              </a:ext>
            </a:extLst>
          </p:cNvPr>
          <p:cNvSpPr txBox="1"/>
          <p:nvPr/>
        </p:nvSpPr>
        <p:spPr>
          <a:xfrm>
            <a:off x="342359" y="824432"/>
            <a:ext cx="831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10F21"/>
                </a:solidFill>
                <a:latin typeface="Söhne"/>
              </a:rPr>
              <a:t>车站模式管理器监视与权限控制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E408EA-798D-6486-56CC-561BB0481B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" y="1193764"/>
            <a:ext cx="7174230" cy="389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7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23B325-0F9F-4468-8B7C-6B272E81E2C5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标题 21"/>
          <p:cNvSpPr>
            <a:spLocks noGrp="1"/>
          </p:cNvSpPr>
          <p:nvPr/>
        </p:nvSpPr>
        <p:spPr>
          <a:xfrm>
            <a:off x="342359" y="203988"/>
            <a:ext cx="7660839" cy="471916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  <a:cs typeface="+mj-cs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180" b="0" dirty="0">
              <a:solidFill>
                <a:srgbClr val="E9460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87C08F-D9D0-8073-6045-5A28D0D0DE69}"/>
              </a:ext>
            </a:extLst>
          </p:cNvPr>
          <p:cNvSpPr txBox="1"/>
          <p:nvPr/>
        </p:nvSpPr>
        <p:spPr>
          <a:xfrm>
            <a:off x="342359" y="824432"/>
            <a:ext cx="831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10F21"/>
                </a:solidFill>
                <a:latin typeface="Söhne"/>
              </a:rPr>
              <a:t>收回子系统权限监视</a:t>
            </a:r>
            <a:endParaRPr lang="en-US" altLang="zh-CN" dirty="0">
              <a:solidFill>
                <a:srgbClr val="010F21"/>
              </a:solidFill>
              <a:latin typeface="Söhn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A00965-9792-8D19-1BBA-ECAD9F93EE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1193763"/>
            <a:ext cx="6918960" cy="389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99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U1YzRjZDVkZDQ0NDhmNDA2YTY3ODMxMDMzNWI1ODUifQ==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10322</TotalTime>
  <Words>200</Words>
  <Application>Microsoft Office PowerPoint</Application>
  <PresentationFormat>全屏显示(16:9)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Söhne</vt:lpstr>
      <vt:lpstr>等线</vt:lpstr>
      <vt:lpstr>微软雅黑</vt:lpstr>
      <vt:lpstr>Arial</vt:lpstr>
      <vt:lpstr>Calibri</vt:lpstr>
      <vt:lpstr>Office 主题</vt:lpstr>
      <vt:lpstr>1_Office 主题</vt:lpstr>
      <vt:lpstr>MICS客户端权限增强工具 技术分享及培训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总干部部</dc:creator>
  <cp:lastModifiedBy>AhChang Liu</cp:lastModifiedBy>
  <cp:revision>810</cp:revision>
  <cp:lastPrinted>2021-12-17T10:50:00Z</cp:lastPrinted>
  <dcterms:created xsi:type="dcterms:W3CDTF">2019-03-11T12:41:00Z</dcterms:created>
  <dcterms:modified xsi:type="dcterms:W3CDTF">2024-09-13T09:25:56Z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E21C4F10DA2D45D39057CC481C33F632</vt:lpwstr>
  </property>
</Properties>
</file>