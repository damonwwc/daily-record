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11090081" r:id="rId2"/>
    <p:sldId id="11090082" r:id="rId3"/>
    <p:sldId id="11090077" r:id="rId4"/>
    <p:sldId id="11090090" r:id="rId5"/>
    <p:sldId id="11090086" r:id="rId6"/>
    <p:sldId id="11090078" r:id="rId7"/>
    <p:sldId id="11090083" r:id="rId8"/>
    <p:sldId id="11090076" r:id="rId9"/>
    <p:sldId id="11090084" r:id="rId10"/>
    <p:sldId id="11090087" r:id="rId11"/>
    <p:sldId id="11090073" r:id="rId12"/>
    <p:sldId id="11090085" r:id="rId13"/>
    <p:sldId id="11090088" r:id="rId14"/>
    <p:sldId id="11090080" r:id="rId15"/>
    <p:sldId id="1109008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23" autoAdjust="0"/>
  </p:normalViewPr>
  <p:slideViewPr>
    <p:cSldViewPr snapToGrid="0">
      <p:cViewPr varScale="1">
        <p:scale>
          <a:sx n="106" d="100"/>
          <a:sy n="106" d="100"/>
        </p:scale>
        <p:origin x="7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BFEF48-60A5-479B-8647-BB30CC8660CC}" type="doc">
      <dgm:prSet loTypeId="urn:microsoft.com/office/officeart/2005/8/layout/funnel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7041CF6-66F8-4C6D-83D1-1119A76B826A}">
      <dgm:prSet phldrT="[文本]"/>
      <dgm:spPr/>
      <dgm:t>
        <a:bodyPr/>
        <a:lstStyle/>
        <a:p>
          <a:r>
            <a:rPr lang="zh-CN" altLang="en-US" dirty="0"/>
            <a:t>模块耦合性高</a:t>
          </a:r>
        </a:p>
      </dgm:t>
    </dgm:pt>
    <dgm:pt modelId="{B892C60F-07B1-488C-B949-53B8CED90037}" type="parTrans" cxnId="{B819E259-DB07-4CB3-823B-CF027C233B3A}">
      <dgm:prSet/>
      <dgm:spPr/>
      <dgm:t>
        <a:bodyPr/>
        <a:lstStyle/>
        <a:p>
          <a:endParaRPr lang="zh-CN" altLang="en-US"/>
        </a:p>
      </dgm:t>
    </dgm:pt>
    <dgm:pt modelId="{7B5BC1A3-3C09-49AC-BE3A-3A0EC7B3012C}" type="sibTrans" cxnId="{B819E259-DB07-4CB3-823B-CF027C233B3A}">
      <dgm:prSet/>
      <dgm:spPr/>
      <dgm:t>
        <a:bodyPr/>
        <a:lstStyle/>
        <a:p>
          <a:endParaRPr lang="zh-CN" altLang="en-US"/>
        </a:p>
      </dgm:t>
    </dgm:pt>
    <dgm:pt modelId="{16E39C4C-AAE9-4348-BA9E-E1D84DA93AFF}">
      <dgm:prSet phldrT="[文本]"/>
      <dgm:spPr/>
      <dgm:t>
        <a:bodyPr/>
        <a:lstStyle/>
        <a:p>
          <a:r>
            <a:rPr lang="zh-CN" altLang="en-US" dirty="0"/>
            <a:t>扩展性差</a:t>
          </a:r>
        </a:p>
      </dgm:t>
    </dgm:pt>
    <dgm:pt modelId="{D1924476-9923-4DA8-8F8A-6E374D10D879}" type="parTrans" cxnId="{FCD06C42-10B9-40A7-81C7-0CD6A4FFA44C}">
      <dgm:prSet/>
      <dgm:spPr/>
      <dgm:t>
        <a:bodyPr/>
        <a:lstStyle/>
        <a:p>
          <a:endParaRPr lang="zh-CN" altLang="en-US"/>
        </a:p>
      </dgm:t>
    </dgm:pt>
    <dgm:pt modelId="{AEA70278-EBC3-490A-AD10-AED06C4B4289}" type="sibTrans" cxnId="{FCD06C42-10B9-40A7-81C7-0CD6A4FFA44C}">
      <dgm:prSet/>
      <dgm:spPr/>
      <dgm:t>
        <a:bodyPr/>
        <a:lstStyle/>
        <a:p>
          <a:endParaRPr lang="zh-CN" altLang="en-US"/>
        </a:p>
      </dgm:t>
    </dgm:pt>
    <dgm:pt modelId="{D85DBEA3-E627-4D0D-83C3-6C15FC5F5034}">
      <dgm:prSet phldrT="[文本]"/>
      <dgm:spPr/>
      <dgm:t>
        <a:bodyPr/>
        <a:lstStyle/>
        <a:p>
          <a:r>
            <a:rPr lang="zh-CN" altLang="en-US" dirty="0"/>
            <a:t>使用难度高</a:t>
          </a:r>
        </a:p>
      </dgm:t>
    </dgm:pt>
    <dgm:pt modelId="{A5A25B84-BD99-47D9-BFAD-978C7E29F106}" type="parTrans" cxnId="{C20FDCC6-5250-4711-BBC2-A3ADBD9DCF84}">
      <dgm:prSet/>
      <dgm:spPr/>
      <dgm:t>
        <a:bodyPr/>
        <a:lstStyle/>
        <a:p>
          <a:endParaRPr lang="zh-CN" altLang="en-US"/>
        </a:p>
      </dgm:t>
    </dgm:pt>
    <dgm:pt modelId="{FD3C4593-0F18-4EED-8E32-DA7F4C565E95}" type="sibTrans" cxnId="{C20FDCC6-5250-4711-BBC2-A3ADBD9DCF84}">
      <dgm:prSet/>
      <dgm:spPr/>
      <dgm:t>
        <a:bodyPr/>
        <a:lstStyle/>
        <a:p>
          <a:endParaRPr lang="zh-CN" altLang="en-US"/>
        </a:p>
      </dgm:t>
    </dgm:pt>
    <dgm:pt modelId="{E03E28C6-4B7E-4113-A1D3-29194E27F9B0}">
      <dgm:prSet phldrT="[文本]"/>
      <dgm:spPr/>
      <dgm:t>
        <a:bodyPr/>
        <a:lstStyle/>
        <a:p>
          <a:r>
            <a:rPr lang="zh-CN" altLang="en-US" dirty="0"/>
            <a:t>痛点</a:t>
          </a:r>
        </a:p>
      </dgm:t>
    </dgm:pt>
    <dgm:pt modelId="{F709EBBD-0679-4DE3-8B5A-F275F1B60041}" type="parTrans" cxnId="{FAE78939-F93B-4E67-A213-B9CE3304E3C3}">
      <dgm:prSet/>
      <dgm:spPr/>
      <dgm:t>
        <a:bodyPr/>
        <a:lstStyle/>
        <a:p>
          <a:endParaRPr lang="zh-CN" altLang="en-US"/>
        </a:p>
      </dgm:t>
    </dgm:pt>
    <dgm:pt modelId="{291ACCFA-580E-4996-BB75-A2A8A880E3C7}" type="sibTrans" cxnId="{FAE78939-F93B-4E67-A213-B9CE3304E3C3}">
      <dgm:prSet/>
      <dgm:spPr/>
      <dgm:t>
        <a:bodyPr/>
        <a:lstStyle/>
        <a:p>
          <a:endParaRPr lang="zh-CN" altLang="en-US"/>
        </a:p>
      </dgm:t>
    </dgm:pt>
    <dgm:pt modelId="{2A8B1B78-3FCD-41EA-9D5C-FEC804AA746E}" type="pres">
      <dgm:prSet presAssocID="{7CBFEF48-60A5-479B-8647-BB30CC8660CC}" presName="Name0" presStyleCnt="0">
        <dgm:presLayoutVars>
          <dgm:chMax val="4"/>
          <dgm:resizeHandles val="exact"/>
        </dgm:presLayoutVars>
      </dgm:prSet>
      <dgm:spPr/>
    </dgm:pt>
    <dgm:pt modelId="{B10B2CE6-2021-4EB1-B04D-F5E17DB4F9C0}" type="pres">
      <dgm:prSet presAssocID="{7CBFEF48-60A5-479B-8647-BB30CC8660CC}" presName="ellipse" presStyleLbl="trBgShp" presStyleIdx="0" presStyleCnt="1"/>
      <dgm:spPr/>
    </dgm:pt>
    <dgm:pt modelId="{683C1669-9D3A-41FA-8369-C149A38A194E}" type="pres">
      <dgm:prSet presAssocID="{7CBFEF48-60A5-479B-8647-BB30CC8660CC}" presName="arrow1" presStyleLbl="fgShp" presStyleIdx="0" presStyleCnt="1"/>
      <dgm:spPr/>
    </dgm:pt>
    <dgm:pt modelId="{3147FCD3-EDCD-4300-B888-E068AE073606}" type="pres">
      <dgm:prSet presAssocID="{7CBFEF48-60A5-479B-8647-BB30CC8660CC}" presName="rectangle" presStyleLbl="revTx" presStyleIdx="0" presStyleCnt="1">
        <dgm:presLayoutVars>
          <dgm:bulletEnabled val="1"/>
        </dgm:presLayoutVars>
      </dgm:prSet>
      <dgm:spPr/>
    </dgm:pt>
    <dgm:pt modelId="{8465C055-B5E9-47F1-90A6-00C69D12DA1E}" type="pres">
      <dgm:prSet presAssocID="{16E39C4C-AAE9-4348-BA9E-E1D84DA93AFF}" presName="item1" presStyleLbl="node1" presStyleIdx="0" presStyleCnt="3">
        <dgm:presLayoutVars>
          <dgm:bulletEnabled val="1"/>
        </dgm:presLayoutVars>
      </dgm:prSet>
      <dgm:spPr/>
    </dgm:pt>
    <dgm:pt modelId="{A6A2CBDC-7139-409B-83F5-10DDA9ACC08B}" type="pres">
      <dgm:prSet presAssocID="{D85DBEA3-E627-4D0D-83C3-6C15FC5F5034}" presName="item2" presStyleLbl="node1" presStyleIdx="1" presStyleCnt="3">
        <dgm:presLayoutVars>
          <dgm:bulletEnabled val="1"/>
        </dgm:presLayoutVars>
      </dgm:prSet>
      <dgm:spPr/>
    </dgm:pt>
    <dgm:pt modelId="{6031FFE6-DD14-4819-8D22-7C5B3AD8004D}" type="pres">
      <dgm:prSet presAssocID="{E03E28C6-4B7E-4113-A1D3-29194E27F9B0}" presName="item3" presStyleLbl="node1" presStyleIdx="2" presStyleCnt="3">
        <dgm:presLayoutVars>
          <dgm:bulletEnabled val="1"/>
        </dgm:presLayoutVars>
      </dgm:prSet>
      <dgm:spPr/>
    </dgm:pt>
    <dgm:pt modelId="{11D6E5CB-9035-4FA2-B73E-1C93F2BD45F4}" type="pres">
      <dgm:prSet presAssocID="{7CBFEF48-60A5-479B-8647-BB30CC8660CC}" presName="funnel" presStyleLbl="trAlignAcc1" presStyleIdx="0" presStyleCnt="1"/>
      <dgm:spPr/>
    </dgm:pt>
  </dgm:ptLst>
  <dgm:cxnLst>
    <dgm:cxn modelId="{FAE78939-F93B-4E67-A213-B9CE3304E3C3}" srcId="{7CBFEF48-60A5-479B-8647-BB30CC8660CC}" destId="{E03E28C6-4B7E-4113-A1D3-29194E27F9B0}" srcOrd="3" destOrd="0" parTransId="{F709EBBD-0679-4DE3-8B5A-F275F1B60041}" sibTransId="{291ACCFA-580E-4996-BB75-A2A8A880E3C7}"/>
    <dgm:cxn modelId="{FCD06C42-10B9-40A7-81C7-0CD6A4FFA44C}" srcId="{7CBFEF48-60A5-479B-8647-BB30CC8660CC}" destId="{16E39C4C-AAE9-4348-BA9E-E1D84DA93AFF}" srcOrd="1" destOrd="0" parTransId="{D1924476-9923-4DA8-8F8A-6E374D10D879}" sibTransId="{AEA70278-EBC3-490A-AD10-AED06C4B4289}"/>
    <dgm:cxn modelId="{EB5FBB44-1D0E-4C3F-A471-53CD1E2CA84B}" type="presOf" srcId="{17041CF6-66F8-4C6D-83D1-1119A76B826A}" destId="{6031FFE6-DD14-4819-8D22-7C5B3AD8004D}" srcOrd="0" destOrd="0" presId="urn:microsoft.com/office/officeart/2005/8/layout/funnel1"/>
    <dgm:cxn modelId="{B819E259-DB07-4CB3-823B-CF027C233B3A}" srcId="{7CBFEF48-60A5-479B-8647-BB30CC8660CC}" destId="{17041CF6-66F8-4C6D-83D1-1119A76B826A}" srcOrd="0" destOrd="0" parTransId="{B892C60F-07B1-488C-B949-53B8CED90037}" sibTransId="{7B5BC1A3-3C09-49AC-BE3A-3A0EC7B3012C}"/>
    <dgm:cxn modelId="{F06A6F8C-C8D3-4276-96D5-2317CABAE526}" type="presOf" srcId="{16E39C4C-AAE9-4348-BA9E-E1D84DA93AFF}" destId="{A6A2CBDC-7139-409B-83F5-10DDA9ACC08B}" srcOrd="0" destOrd="0" presId="urn:microsoft.com/office/officeart/2005/8/layout/funnel1"/>
    <dgm:cxn modelId="{7E7983BD-90A0-4C4F-8B6A-0401C23FF6C9}" type="presOf" srcId="{D85DBEA3-E627-4D0D-83C3-6C15FC5F5034}" destId="{8465C055-B5E9-47F1-90A6-00C69D12DA1E}" srcOrd="0" destOrd="0" presId="urn:microsoft.com/office/officeart/2005/8/layout/funnel1"/>
    <dgm:cxn modelId="{C20FDCC6-5250-4711-BBC2-A3ADBD9DCF84}" srcId="{7CBFEF48-60A5-479B-8647-BB30CC8660CC}" destId="{D85DBEA3-E627-4D0D-83C3-6C15FC5F5034}" srcOrd="2" destOrd="0" parTransId="{A5A25B84-BD99-47D9-BFAD-978C7E29F106}" sibTransId="{FD3C4593-0F18-4EED-8E32-DA7F4C565E95}"/>
    <dgm:cxn modelId="{A6F1ECD3-0830-49BD-A7E9-95E153EA604E}" type="presOf" srcId="{E03E28C6-4B7E-4113-A1D3-29194E27F9B0}" destId="{3147FCD3-EDCD-4300-B888-E068AE073606}" srcOrd="0" destOrd="0" presId="urn:microsoft.com/office/officeart/2005/8/layout/funnel1"/>
    <dgm:cxn modelId="{E2CEE3F2-A630-4769-A8EA-D3C935D19893}" type="presOf" srcId="{7CBFEF48-60A5-479B-8647-BB30CC8660CC}" destId="{2A8B1B78-3FCD-41EA-9D5C-FEC804AA746E}" srcOrd="0" destOrd="0" presId="urn:microsoft.com/office/officeart/2005/8/layout/funnel1"/>
    <dgm:cxn modelId="{F27EC61D-644D-4158-A643-F9D600145EF3}" type="presParOf" srcId="{2A8B1B78-3FCD-41EA-9D5C-FEC804AA746E}" destId="{B10B2CE6-2021-4EB1-B04D-F5E17DB4F9C0}" srcOrd="0" destOrd="0" presId="urn:microsoft.com/office/officeart/2005/8/layout/funnel1"/>
    <dgm:cxn modelId="{DE00F19D-EC4F-4688-B7A8-819916923D5E}" type="presParOf" srcId="{2A8B1B78-3FCD-41EA-9D5C-FEC804AA746E}" destId="{683C1669-9D3A-41FA-8369-C149A38A194E}" srcOrd="1" destOrd="0" presId="urn:microsoft.com/office/officeart/2005/8/layout/funnel1"/>
    <dgm:cxn modelId="{C50E3F0B-D9EF-45D8-ADC4-E13A786C8973}" type="presParOf" srcId="{2A8B1B78-3FCD-41EA-9D5C-FEC804AA746E}" destId="{3147FCD3-EDCD-4300-B888-E068AE073606}" srcOrd="2" destOrd="0" presId="urn:microsoft.com/office/officeart/2005/8/layout/funnel1"/>
    <dgm:cxn modelId="{1FACC14C-FA0B-4963-9444-CD3C97D6845A}" type="presParOf" srcId="{2A8B1B78-3FCD-41EA-9D5C-FEC804AA746E}" destId="{8465C055-B5E9-47F1-90A6-00C69D12DA1E}" srcOrd="3" destOrd="0" presId="urn:microsoft.com/office/officeart/2005/8/layout/funnel1"/>
    <dgm:cxn modelId="{216A7FFB-42C9-4146-9E6C-1A8077C3DE28}" type="presParOf" srcId="{2A8B1B78-3FCD-41EA-9D5C-FEC804AA746E}" destId="{A6A2CBDC-7139-409B-83F5-10DDA9ACC08B}" srcOrd="4" destOrd="0" presId="urn:microsoft.com/office/officeart/2005/8/layout/funnel1"/>
    <dgm:cxn modelId="{B3CD3113-19D4-480E-BF68-A8AA5A18775E}" type="presParOf" srcId="{2A8B1B78-3FCD-41EA-9D5C-FEC804AA746E}" destId="{6031FFE6-DD14-4819-8D22-7C5B3AD8004D}" srcOrd="5" destOrd="0" presId="urn:microsoft.com/office/officeart/2005/8/layout/funnel1"/>
    <dgm:cxn modelId="{45F7DF91-AC47-49E2-B944-CCE095CB5A72}" type="presParOf" srcId="{2A8B1B78-3FCD-41EA-9D5C-FEC804AA746E}" destId="{11D6E5CB-9035-4FA2-B73E-1C93F2BD45F4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0B2CE6-2021-4EB1-B04D-F5E17DB4F9C0}">
      <dsp:nvSpPr>
        <dsp:cNvPr id="0" name=""/>
        <dsp:cNvSpPr/>
      </dsp:nvSpPr>
      <dsp:spPr>
        <a:xfrm>
          <a:off x="1872826" y="220133"/>
          <a:ext cx="4368800" cy="151722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C1669-9D3A-41FA-8369-C149A38A194E}">
      <dsp:nvSpPr>
        <dsp:cNvPr id="0" name=""/>
        <dsp:cNvSpPr/>
      </dsp:nvSpPr>
      <dsp:spPr>
        <a:xfrm>
          <a:off x="3640666" y="3935306"/>
          <a:ext cx="846666" cy="541866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7FCD3-EDCD-4300-B888-E068AE073606}">
      <dsp:nvSpPr>
        <dsp:cNvPr id="0" name=""/>
        <dsp:cNvSpPr/>
      </dsp:nvSpPr>
      <dsp:spPr>
        <a:xfrm>
          <a:off x="2031999" y="4368800"/>
          <a:ext cx="4064000" cy="10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 dirty="0"/>
            <a:t>痛点</a:t>
          </a:r>
        </a:p>
      </dsp:txBody>
      <dsp:txXfrm>
        <a:off x="2031999" y="4368800"/>
        <a:ext cx="4064000" cy="1016000"/>
      </dsp:txXfrm>
    </dsp:sp>
    <dsp:sp modelId="{8465C055-B5E9-47F1-90A6-00C69D12DA1E}">
      <dsp:nvSpPr>
        <dsp:cNvPr id="0" name=""/>
        <dsp:cNvSpPr/>
      </dsp:nvSpPr>
      <dsp:spPr>
        <a:xfrm>
          <a:off x="3461173" y="1854538"/>
          <a:ext cx="1524000" cy="1524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使用难度高</a:t>
          </a:r>
        </a:p>
      </dsp:txBody>
      <dsp:txXfrm>
        <a:off x="3684358" y="2077723"/>
        <a:ext cx="1077630" cy="1077630"/>
      </dsp:txXfrm>
    </dsp:sp>
    <dsp:sp modelId="{A6A2CBDC-7139-409B-83F5-10DDA9ACC08B}">
      <dsp:nvSpPr>
        <dsp:cNvPr id="0" name=""/>
        <dsp:cNvSpPr/>
      </dsp:nvSpPr>
      <dsp:spPr>
        <a:xfrm>
          <a:off x="2370666" y="711200"/>
          <a:ext cx="1524000" cy="1524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扩展性差</a:t>
          </a:r>
        </a:p>
      </dsp:txBody>
      <dsp:txXfrm>
        <a:off x="2593851" y="934385"/>
        <a:ext cx="1077630" cy="1077630"/>
      </dsp:txXfrm>
    </dsp:sp>
    <dsp:sp modelId="{6031FFE6-DD14-4819-8D22-7C5B3AD8004D}">
      <dsp:nvSpPr>
        <dsp:cNvPr id="0" name=""/>
        <dsp:cNvSpPr/>
      </dsp:nvSpPr>
      <dsp:spPr>
        <a:xfrm>
          <a:off x="3928533" y="342730"/>
          <a:ext cx="1524000" cy="1524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模块耦合性高</a:t>
          </a:r>
        </a:p>
      </dsp:txBody>
      <dsp:txXfrm>
        <a:off x="4151718" y="565915"/>
        <a:ext cx="1077630" cy="1077630"/>
      </dsp:txXfrm>
    </dsp:sp>
    <dsp:sp modelId="{11D6E5CB-9035-4FA2-B73E-1C93F2BD45F4}">
      <dsp:nvSpPr>
        <dsp:cNvPr id="0" name=""/>
        <dsp:cNvSpPr/>
      </dsp:nvSpPr>
      <dsp:spPr>
        <a:xfrm>
          <a:off x="1693333" y="33866"/>
          <a:ext cx="4741333" cy="379306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B5B24-9F89-4925-8CC2-E4082B9E3F28}" type="datetimeFigureOut">
              <a:rPr lang="zh-CN" altLang="en-US" smtClean="0"/>
              <a:t>2023/9/5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A4D52-64E4-49D0-9541-D56E0D8017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382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A4D52-64E4-49D0-9541-D56E0D8017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192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A4D52-64E4-49D0-9541-D56E0D8017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786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126"/>
            <a:r>
              <a:rPr lang="zh-CN" altLang="en-US" sz="1200" dirty="0"/>
              <a:t>客户端</a:t>
            </a:r>
            <a:r>
              <a:rPr lang="en-US" altLang="zh-CN" sz="1200" dirty="0"/>
              <a:t>2.0</a:t>
            </a:r>
            <a:r>
              <a:rPr lang="zh-CN" altLang="en-US" sz="1200" dirty="0"/>
              <a:t>需求</a:t>
            </a:r>
            <a:r>
              <a:rPr lang="en-US" altLang="zh-CN" sz="1200" dirty="0"/>
              <a:t>-</a:t>
            </a:r>
            <a:r>
              <a:rPr lang="zh-CN" altLang="en-US" sz="1200" dirty="0"/>
              <a:t>业务需求，技术需求，痛点，改进点等。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A4D52-64E4-49D0-9541-D56E0D8017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784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126"/>
            <a:r>
              <a:rPr lang="zh-CN" altLang="en-US" sz="1200" dirty="0"/>
              <a:t>客户端</a:t>
            </a:r>
            <a:r>
              <a:rPr lang="en-US" altLang="zh-CN" sz="1200" dirty="0"/>
              <a:t>2.0</a:t>
            </a:r>
            <a:r>
              <a:rPr lang="zh-CN" altLang="en-US" sz="1200" dirty="0"/>
              <a:t>需求</a:t>
            </a:r>
            <a:r>
              <a:rPr lang="en-US" altLang="zh-CN" sz="1200" dirty="0"/>
              <a:t>-</a:t>
            </a:r>
            <a:r>
              <a:rPr lang="zh-CN" altLang="en-US" sz="1200" dirty="0"/>
              <a:t>业务需求，技术需求，痛点，改进点等。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A4D52-64E4-49D0-9541-D56E0D8017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133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latin typeface="+mn-ea"/>
              </a:rPr>
              <a:t>主要功能介绍：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latin typeface="+mn-ea"/>
              </a:rPr>
              <a:t>1</a:t>
            </a:r>
            <a:r>
              <a:rPr lang="zh-CN" altLang="en-US" sz="1200" dirty="0">
                <a:latin typeface="+mn-ea"/>
              </a:rPr>
              <a:t>、界面根据后台配置信息渲染。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latin typeface="+mn-ea"/>
              </a:rPr>
              <a:t>2</a:t>
            </a:r>
            <a:r>
              <a:rPr lang="zh-CN" altLang="en-US" sz="1200" dirty="0">
                <a:latin typeface="+mn-ea"/>
              </a:rPr>
              <a:t>、页面灵活性高，各模块均可弹出显示。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latin typeface="+mn-ea"/>
              </a:rPr>
              <a:t>3</a:t>
            </a:r>
            <a:r>
              <a:rPr lang="zh-CN" altLang="en-US" sz="1200" dirty="0">
                <a:latin typeface="+mn-ea"/>
              </a:rPr>
              <a:t>、展示页面可根据后端信息跳转。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latin typeface="+mn-ea"/>
              </a:rPr>
              <a:t>4</a:t>
            </a:r>
            <a:r>
              <a:rPr lang="zh-CN" altLang="en-US" sz="1200" dirty="0">
                <a:latin typeface="+mn-ea"/>
              </a:rPr>
              <a:t>、界面屏幕分辨率自适应，无需配置，自动适配。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latin typeface="+mn-ea"/>
              </a:rPr>
              <a:t>5</a:t>
            </a:r>
            <a:r>
              <a:rPr lang="zh-CN" altLang="en-US" sz="1200" dirty="0">
                <a:latin typeface="+mn-ea"/>
              </a:rPr>
              <a:t>、进程管理，主进程监控子进程运行状况。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latin typeface="+mn-ea"/>
              </a:rPr>
              <a:t>6</a:t>
            </a:r>
            <a:r>
              <a:rPr lang="zh-CN" altLang="en-US" sz="1200" dirty="0">
                <a:latin typeface="+mn-ea"/>
              </a:rPr>
              <a:t>、页面可快速启动编辑，用户可任意替换组件和位置替换。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latin typeface="+mn-ea"/>
              </a:rPr>
              <a:t>7</a:t>
            </a:r>
            <a:r>
              <a:rPr lang="zh-CN" altLang="en-US" sz="1200" dirty="0">
                <a:latin typeface="+mn-ea"/>
              </a:rPr>
              <a:t>、业务组件插件的形式加载，组件库扩展性强。</a:t>
            </a:r>
            <a:endParaRPr lang="en-US" altLang="zh-CN" sz="1200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A4D52-64E4-49D0-9541-D56E0D8017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441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126"/>
            <a:r>
              <a:rPr lang="zh-CN" altLang="en-US" sz="1200" dirty="0"/>
              <a:t>客户端</a:t>
            </a:r>
            <a:r>
              <a:rPr lang="en-US" altLang="zh-CN" sz="1200" dirty="0"/>
              <a:t>2.0</a:t>
            </a:r>
            <a:r>
              <a:rPr lang="zh-CN" altLang="en-US" sz="1200" dirty="0"/>
              <a:t>需求</a:t>
            </a:r>
            <a:r>
              <a:rPr lang="en-US" altLang="zh-CN" sz="1200" dirty="0"/>
              <a:t>-</a:t>
            </a:r>
            <a:r>
              <a:rPr lang="zh-CN" altLang="en-US" sz="1200" dirty="0"/>
              <a:t>业务需求，技术需求，痛点，改进点等。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A4D52-64E4-49D0-9541-D56E0D8017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321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126"/>
            <a:r>
              <a:rPr lang="zh-CN" altLang="en-US" sz="1200" dirty="0"/>
              <a:t>客户端</a:t>
            </a:r>
            <a:r>
              <a:rPr lang="en-US" altLang="zh-CN" sz="1200" dirty="0"/>
              <a:t>2.0</a:t>
            </a:r>
            <a:r>
              <a:rPr lang="zh-CN" altLang="en-US" sz="1200" dirty="0"/>
              <a:t>需求</a:t>
            </a:r>
            <a:r>
              <a:rPr lang="en-US" altLang="zh-CN" sz="1200" dirty="0"/>
              <a:t>-</a:t>
            </a:r>
            <a:r>
              <a:rPr lang="zh-CN" altLang="en-US" sz="1200" dirty="0"/>
              <a:t>业务需求，技术需求，痛点，改进点等。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A4D52-64E4-49D0-9541-D56E0D80175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941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A4D52-64E4-49D0-9541-D56E0D80175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084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-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 佳都LOGO-白-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4783" y="229235"/>
            <a:ext cx="1288294" cy="30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4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Administrator/AppData/Local/Temp/picturecompress_20211111171154/output_1.pngoutput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8"/>
            <a:ext cx="12192000" cy="6856094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7A351-0783-4196-B962-261C87CC0C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547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721" y="0"/>
            <a:ext cx="12188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0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G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731" y="230891"/>
            <a:ext cx="8626436" cy="4780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zh-CN" altLang="en-US" sz="2799" b="1" kern="12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747782" y="6573417"/>
            <a:ext cx="78579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lvl="0"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fld id="{98A0E10D-DB2D-4E76-9BD5-321CBA48C453}" type="slidenum">
              <a:rPr lang="zh-CN" altLang="en-US" sz="120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1220858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丁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730" y="230890"/>
            <a:ext cx="8626436" cy="4780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199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747781" y="6527235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98A0E10D-DB2D-4E76-9BD5-321CBA48C453}" type="slidenum">
              <a:rPr lang="zh-CN" altLang="en-US" sz="1600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82302" y="899624"/>
            <a:ext cx="526775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98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Picture 18" hidden="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10626" y="5915491"/>
            <a:ext cx="1752033" cy="1050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组合 15" hidden="1"/>
          <p:cNvGrpSpPr/>
          <p:nvPr userDrawn="1"/>
        </p:nvGrpSpPr>
        <p:grpSpPr bwMode="auto">
          <a:xfrm>
            <a:off x="1075075" y="6233020"/>
            <a:ext cx="4982292" cy="1088679"/>
            <a:chOff x="3453734" y="15199569"/>
            <a:chExt cx="4709400" cy="1028517"/>
          </a:xfrm>
        </p:grpSpPr>
        <p:sp>
          <p:nvSpPr>
            <p:cNvPr id="1048811" name="标题 1"/>
            <p:cNvSpPr txBox="1"/>
            <p:nvPr/>
          </p:nvSpPr>
          <p:spPr bwMode="auto">
            <a:xfrm>
              <a:off x="3453734" y="15199569"/>
              <a:ext cx="2710367" cy="98724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70000"/>
                </a:lnSpc>
              </a:pPr>
              <a:r>
                <a:rPr lang="zh-CN" altLang="en-US" sz="1585" b="1" dirty="0">
                  <a:solidFill>
                    <a:srgbClr val="262626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可视化解决方案专家</a:t>
              </a:r>
              <a:endParaRPr lang="en-US" altLang="zh-CN" sz="1585" b="1" dirty="0">
                <a:solidFill>
                  <a:srgbClr val="262626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eaLnBrk="1" hangingPunct="1">
                <a:lnSpc>
                  <a:spcPct val="170000"/>
                </a:lnSpc>
              </a:pPr>
              <a:endParaRPr lang="en-US" altLang="zh-CN" sz="1585" b="1" dirty="0">
                <a:solidFill>
                  <a:srgbClr val="262626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48812" name="标题 1"/>
            <p:cNvSpPr txBox="1"/>
            <p:nvPr/>
          </p:nvSpPr>
          <p:spPr bwMode="auto">
            <a:xfrm>
              <a:off x="5276523" y="15240837"/>
              <a:ext cx="2886611" cy="98724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defTabSz="1152525" eaLnBrk="0" hangingPunct="0"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defTabSz="1152525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F0000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70000"/>
                </a:lnSpc>
              </a:pPr>
              <a:r>
                <a:rPr lang="zh-CN" altLang="en-US" sz="116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</a:rPr>
                <a:t>股份代码：</a:t>
              </a:r>
              <a:r>
                <a:rPr lang="en-US" altLang="zh-CN" sz="116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</a:rPr>
                <a:t>002308  </a:t>
              </a:r>
              <a:r>
                <a:rPr lang="en-US" altLang="zh-CN" sz="126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</a:rPr>
                <a:t>www.vtron.com</a:t>
              </a:r>
            </a:p>
            <a:p>
              <a:pPr eaLnBrk="1" hangingPunct="1">
                <a:lnSpc>
                  <a:spcPct val="170000"/>
                </a:lnSpc>
              </a:pPr>
              <a:r>
                <a:rPr lang="en-US" altLang="zh-CN" sz="1165" dirty="0">
                  <a:solidFill>
                    <a:srgbClr val="262626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</a:p>
            <a:p>
              <a:pPr eaLnBrk="1" hangingPunct="1">
                <a:lnSpc>
                  <a:spcPct val="170000"/>
                </a:lnSpc>
              </a:pPr>
              <a:endParaRPr lang="en-US" altLang="zh-CN" sz="1165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48813" name="文本框 1"/>
          <p:cNvSpPr txBox="1"/>
          <p:nvPr userDrawn="1"/>
        </p:nvSpPr>
        <p:spPr>
          <a:xfrm>
            <a:off x="11474028" y="6502400"/>
            <a:ext cx="623147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No.</a:t>
            </a:r>
            <a:fld id="{DC950FDE-D928-4010-A2DE-2B6E8842C07D}" type="slidenum">
              <a:rPr lang="en-US" altLang="zh-CN" sz="1065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‹#›</a:t>
            </a:fld>
            <a:endParaRPr lang="en-US" altLang="zh-CN" sz="1065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48814" name="标题 11"/>
          <p:cNvSpPr>
            <a:spLocks noGrp="1"/>
          </p:cNvSpPr>
          <p:nvPr>
            <p:ph type="title"/>
          </p:nvPr>
        </p:nvSpPr>
        <p:spPr>
          <a:xfrm>
            <a:off x="508731" y="230891"/>
            <a:ext cx="8626436" cy="4780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799" b="1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3786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F0E7B-F686-455A-8744-F759A71D29AA}" type="datetimeFigureOut">
              <a:rPr lang="zh-CN" altLang="en-US" smtClean="0"/>
              <a:t>2023/9/5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5BCB-6D1A-42FD-85CF-33715F79E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918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丁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730" y="230890"/>
            <a:ext cx="8626436" cy="47802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199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10747781" y="6527235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98A0E10D-DB2D-4E76-9BD5-321CBA48C453}" type="slidenum">
              <a:rPr lang="zh-CN" altLang="en-US" sz="1600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82302" y="899624"/>
            <a:ext cx="526775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69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26495" y="77231"/>
            <a:ext cx="10972800" cy="60875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A4C77-7A59-4C6C-8766-E9E4214F683E}" type="datetimeFigureOut">
              <a:rPr lang="zh-CN" altLang="en-US"/>
              <a:t>2023/9/5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FAEB5-674B-4CD5-BE3D-04409D50C95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537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26495" y="77231"/>
            <a:ext cx="10972800" cy="60875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060575"/>
            <a:ext cx="10972800" cy="403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57A911F-8C96-4595-B42A-9DC1305D60F8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5014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8536" y="87262"/>
            <a:ext cx="10242263" cy="60875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007668" y="6527216"/>
            <a:ext cx="1303223" cy="307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+mn-ea"/>
                <a:ea typeface="+mn-ea"/>
              </a:rPr>
              <a:t>第</a:t>
            </a:r>
            <a:fld id="{EF814AF2-3DAA-49C9-8CBA-73733764BB18}" type="slidenum">
              <a:rPr lang="zh-CN" altLang="en-US" sz="1400" smtClean="0">
                <a:latin typeface="+mn-ea"/>
                <a:ea typeface="+mn-ea"/>
              </a:rPr>
              <a:t>‹#›</a:t>
            </a:fld>
            <a:r>
              <a:rPr lang="zh-CN" altLang="en-US" sz="1400" dirty="0">
                <a:latin typeface="+mn-ea"/>
                <a:ea typeface="+mn-ea"/>
              </a:rPr>
              <a:t>页</a:t>
            </a:r>
            <a:r>
              <a:rPr lang="en-US" altLang="zh-CN" sz="1400" dirty="0">
                <a:latin typeface="+mn-ea"/>
                <a:ea typeface="+mn-ea"/>
              </a:rPr>
              <a:t>/ 24</a:t>
            </a:r>
            <a:r>
              <a:rPr lang="zh-CN" altLang="en-US" sz="1400" dirty="0">
                <a:latin typeface="+mn-ea"/>
                <a:ea typeface="+mn-ea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57049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730" y="230879"/>
            <a:ext cx="10214452" cy="47800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199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82298" y="735206"/>
            <a:ext cx="526775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9746617" y="6543377"/>
            <a:ext cx="695843" cy="276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1200" i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第</a:t>
            </a:r>
            <a:fld id="{FCACE164-B1A3-47F8-8BCC-096FEB46433A}" type="slidenum">
              <a:rPr lang="zh-CN" altLang="en-US" sz="1200" i="1" smtClean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‹#›</a:t>
            </a:fld>
            <a:r>
              <a:rPr lang="zh-CN" altLang="en-US" sz="1200" i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3788644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03B4-5A97-4F86-A344-9AB07F481C60}" type="datetime1">
              <a:rPr lang="zh-CN" altLang="en-US" smtClean="0"/>
              <a:t>2023/9/5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56478" y="271971"/>
            <a:ext cx="10214452" cy="629192"/>
          </a:xfrm>
          <a:prstGeom prst="rect">
            <a:avLst/>
          </a:prstGeom>
        </p:spPr>
        <p:txBody>
          <a:bodyPr numCol="2" anchor="ctr">
            <a:normAutofit/>
          </a:bodyPr>
          <a:lstStyle>
            <a:lvl1pPr>
              <a:defRPr sz="2599" b="1">
                <a:solidFill>
                  <a:schemeClr val="bg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582300" y="899583"/>
            <a:ext cx="526774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1 佳都LOGO-橙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17406" y="163822"/>
            <a:ext cx="2240915" cy="68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84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5C33-2320-4DA7-903C-BA21E1744910}" type="datetime1">
              <a:rPr lang="zh-CN" altLang="en-US" smtClean="0"/>
              <a:t>2023/9/5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1 佳都LOGO-橙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17406" y="163822"/>
            <a:ext cx="2240915" cy="68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51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5729" y="166200"/>
            <a:ext cx="11680542" cy="629163"/>
          </a:xfrm>
        </p:spPr>
        <p:txBody>
          <a:bodyPr>
            <a:normAutofit/>
          </a:bodyPr>
          <a:lstStyle>
            <a:lvl1pPr>
              <a:defRPr sz="2199" b="1">
                <a:solidFill>
                  <a:srgbClr val="EC470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 rot="16200000">
            <a:off x="111724" y="480781"/>
            <a:ext cx="288008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63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defTabSz="914126"/>
            <a:fld id="{F573C6FA-291E-4093-972C-67BB8AC6CC5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4126"/>
              <a:t>2023/9/5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1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defTabSz="914126"/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defTabSz="914126"/>
            <a:fld id="{9A23B325-0F9F-4468-8B7C-6B272E81E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4126"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0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微软雅黑" panose="020B0503020204020204" charset="-122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355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1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48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54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60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669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88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12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5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138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6052F7-F97C-8FEE-1144-4181A57EFE86}"/>
              </a:ext>
            </a:extLst>
          </p:cNvPr>
          <p:cNvSpPr txBox="1"/>
          <p:nvPr/>
        </p:nvSpPr>
        <p:spPr>
          <a:xfrm>
            <a:off x="1833880" y="2106930"/>
            <a:ext cx="9150350" cy="85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zh-CN" altLang="en-US" sz="3735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客户端</a:t>
            </a:r>
            <a:r>
              <a:rPr lang="en-US" altLang="zh-CN" sz="3735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2.0</a:t>
            </a:r>
            <a:r>
              <a:rPr lang="zh-CN" altLang="en-US" sz="3735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框架研发进展及下一步工作</a:t>
            </a:r>
            <a:endParaRPr lang="zh-CN" altLang="en-US" sz="427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9A6F06-9B5B-453C-331B-822D4BE82561}"/>
              </a:ext>
            </a:extLst>
          </p:cNvPr>
          <p:cNvSpPr/>
          <p:nvPr/>
        </p:nvSpPr>
        <p:spPr>
          <a:xfrm>
            <a:off x="4389839" y="4913832"/>
            <a:ext cx="3415497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kumimoji="1" lang="en-US" altLang="zh-CN" sz="1800" b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r>
              <a:rPr kumimoji="1" lang="zh-CN" altLang="en-US" sz="1800" b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kumimoji="1" lang="en-US" altLang="zh-CN" sz="1800" b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1" lang="zh-CN" altLang="en-US" sz="1800" b="1" spc="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endParaRPr kumimoji="1" lang="en-US" altLang="zh-CN" sz="1800" b="1" spc="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佳都科技集团30周年logo-20220726 - 加粗-05">
            <a:extLst>
              <a:ext uri="{FF2B5EF4-FFF2-40B4-BE49-F238E27FC236}">
                <a16:creationId xmlns:a16="http://schemas.microsoft.com/office/drawing/2014/main" id="{CD7353A2-0420-40DD-236B-DF04CB2AC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864" y="321370"/>
            <a:ext cx="2957895" cy="47052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887A934-2DF9-A3CD-6857-EFFF19968431}"/>
              </a:ext>
            </a:extLst>
          </p:cNvPr>
          <p:cNvSpPr txBox="1"/>
          <p:nvPr/>
        </p:nvSpPr>
        <p:spPr>
          <a:xfrm>
            <a:off x="4886722" y="375221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汇报人：王文超</a:t>
            </a:r>
          </a:p>
        </p:txBody>
      </p:sp>
    </p:spTree>
    <p:extLst>
      <p:ext uri="{BB962C8B-B14F-4D97-AF65-F5344CB8AC3E}">
        <p14:creationId xmlns:p14="http://schemas.microsoft.com/office/powerpoint/2010/main" val="3783622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CD67144-15CA-35B6-F84B-40985A4AB3BA}"/>
              </a:ext>
            </a:extLst>
          </p:cNvPr>
          <p:cNvSpPr/>
          <p:nvPr/>
        </p:nvSpPr>
        <p:spPr>
          <a:xfrm>
            <a:off x="951" y="0"/>
            <a:ext cx="4009008" cy="6859588"/>
          </a:xfrm>
          <a:prstGeom prst="rect">
            <a:avLst/>
          </a:prstGeom>
          <a:solidFill>
            <a:srgbClr val="0049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 defTabSz="1219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CAADEDEF-BD21-DCC4-F236-5652009CB40E}"/>
              </a:ext>
            </a:extLst>
          </p:cNvPr>
          <p:cNvSpPr txBox="1"/>
          <p:nvPr/>
        </p:nvSpPr>
        <p:spPr>
          <a:xfrm>
            <a:off x="962871" y="3777444"/>
            <a:ext cx="2375576" cy="5848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en-US" altLang="zh-CN" sz="3200" dirty="0">
                <a:solidFill>
                  <a:prstClr val="white"/>
                </a:solidFill>
                <a:latin typeface="Agency FB" panose="020B0503020202020204" pitchFamily="34" charset="0"/>
                <a:ea typeface="Adobe 宋体 Std L" panose="02020300000000000000" pitchFamily="18" charset="-122"/>
              </a:rPr>
              <a:t>Contents </a:t>
            </a:r>
            <a:endParaRPr lang="zh-CN" altLang="en-US" sz="3200" dirty="0">
              <a:solidFill>
                <a:prstClr val="white"/>
              </a:solidFill>
              <a:latin typeface="Agency FB" panose="020B0503020202020204" pitchFamily="34" charset="0"/>
              <a:ea typeface="Adobe 宋体 Std L" panose="02020300000000000000" pitchFamily="18" charset="-122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438CD029-CBEC-32C7-9F68-BC7AAC1676C7}"/>
              </a:ext>
            </a:extLst>
          </p:cNvPr>
          <p:cNvSpPr txBox="1"/>
          <p:nvPr/>
        </p:nvSpPr>
        <p:spPr>
          <a:xfrm>
            <a:off x="1068378" y="2363903"/>
            <a:ext cx="2375576" cy="85161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zh-CN" altLang="en-US" sz="4935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目录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6B5D381-8224-902B-80BA-CC70F5616FE2}"/>
              </a:ext>
            </a:extLst>
          </p:cNvPr>
          <p:cNvSpPr txBox="1"/>
          <p:nvPr/>
        </p:nvSpPr>
        <p:spPr>
          <a:xfrm>
            <a:off x="5969635" y="40427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04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下一步工作展望与计划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0E654E9-F736-08A0-1654-37C1542FE014}"/>
              </a:ext>
            </a:extLst>
          </p:cNvPr>
          <p:cNvSpPr txBox="1"/>
          <p:nvPr/>
        </p:nvSpPr>
        <p:spPr>
          <a:xfrm>
            <a:off x="5969635" y="1680845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01  </a:t>
            </a:r>
            <a:r>
              <a:rPr lang="en-US" altLang="zh-CN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  </a:t>
            </a:r>
            <a:r>
              <a:rPr lang="zh-CN" altLang="en-US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1.0</a:t>
            </a:r>
            <a:r>
              <a:rPr lang="zh-CN" altLang="en-US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框架介绍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282BC4C4-27D0-1D05-6B35-8DF332C47513}"/>
              </a:ext>
            </a:extLst>
          </p:cNvPr>
          <p:cNvSpPr txBox="1"/>
          <p:nvPr/>
        </p:nvSpPr>
        <p:spPr>
          <a:xfrm>
            <a:off x="5969635" y="24679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02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2.0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框架介绍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5645EFF-9BC1-C874-612D-0E6EA1B373EF}"/>
              </a:ext>
            </a:extLst>
          </p:cNvPr>
          <p:cNvSpPr txBox="1"/>
          <p:nvPr/>
        </p:nvSpPr>
        <p:spPr>
          <a:xfrm>
            <a:off x="5969635" y="32553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03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2.0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开发进度</a:t>
            </a:r>
          </a:p>
        </p:txBody>
      </p:sp>
    </p:spTree>
    <p:extLst>
      <p:ext uri="{BB962C8B-B14F-4D97-AF65-F5344CB8AC3E}">
        <p14:creationId xmlns:p14="http://schemas.microsoft.com/office/powerpoint/2010/main" val="117408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/>
        </p:nvSpPr>
        <p:spPr>
          <a:xfrm>
            <a:off x="280091" y="205006"/>
            <a:ext cx="8626436" cy="4780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defTabSz="914126"/>
            <a:r>
              <a:rPr lang="zh-CN" altLang="en-US" sz="2400" dirty="0">
                <a:latin typeface="+mn-ea"/>
                <a:ea typeface="+mn-ea"/>
              </a:rPr>
              <a:t>客户端</a:t>
            </a:r>
            <a:r>
              <a:rPr lang="en-US" altLang="zh-CN" sz="2400" dirty="0">
                <a:latin typeface="+mn-ea"/>
                <a:ea typeface="+mn-ea"/>
              </a:rPr>
              <a:t>1.0</a:t>
            </a:r>
            <a:r>
              <a:rPr lang="zh-CN" altLang="en-US" sz="2400" dirty="0">
                <a:latin typeface="+mn-ea"/>
                <a:ea typeface="+mn-ea"/>
              </a:rPr>
              <a:t>框架介绍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87D717F-99E5-D6FF-C2D8-150DFDFC1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155" y="2187328"/>
            <a:ext cx="6841490" cy="41656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420990E-54AA-34CC-BCFF-F5C9DD260B72}"/>
              </a:ext>
            </a:extLst>
          </p:cNvPr>
          <p:cNvSpPr txBox="1"/>
          <p:nvPr/>
        </p:nvSpPr>
        <p:spPr>
          <a:xfrm>
            <a:off x="345366" y="849648"/>
            <a:ext cx="11521052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    </a:t>
            </a:r>
            <a:r>
              <a:rPr lang="zh-CN" altLang="en-US" sz="1400" dirty="0">
                <a:latin typeface="+mn-ea"/>
              </a:rPr>
              <a:t>客户端</a:t>
            </a:r>
            <a:r>
              <a:rPr lang="en-US" altLang="zh-CN" sz="1400" dirty="0">
                <a:latin typeface="+mn-ea"/>
              </a:rPr>
              <a:t>1.0</a:t>
            </a:r>
            <a:r>
              <a:rPr lang="zh-CN" altLang="en-US" sz="1400" dirty="0">
                <a:latin typeface="+mn-ea"/>
              </a:rPr>
              <a:t>主要采用</a:t>
            </a:r>
            <a:r>
              <a:rPr lang="en-US" altLang="zh-CN" sz="1400" dirty="0">
                <a:latin typeface="+mn-ea"/>
              </a:rPr>
              <a:t>MVVM</a:t>
            </a:r>
            <a:r>
              <a:rPr lang="zh-CN" altLang="en-US" sz="1400" dirty="0">
                <a:latin typeface="+mn-ea"/>
              </a:rPr>
              <a:t>模式开发，对基础设施、服务层、容器层、模块层进行封装。</a:t>
            </a:r>
            <a:r>
              <a:rPr lang="zh-CN" altLang="zh-CN" sz="1400" dirty="0">
                <a:effectLst/>
                <a:latin typeface="+mn-ea"/>
                <a:cs typeface="Arial" panose="020B0604020202020204" pitchFamily="34" charset="0"/>
              </a:rPr>
              <a:t>预置了通用的基础设施、多维度的服务、风格统一的登录界面和容器、规范化的模块</a:t>
            </a:r>
            <a:r>
              <a:rPr lang="zh-CN" altLang="en-US" sz="1400" dirty="0">
                <a:effectLst/>
                <a:latin typeface="+mn-ea"/>
                <a:cs typeface="Arial" panose="020B0604020202020204" pitchFamily="34" charset="0"/>
              </a:rPr>
              <a:t>。</a:t>
            </a:r>
            <a:r>
              <a:rPr lang="zh-CN" altLang="zh-CN" sz="1400" dirty="0">
                <a:latin typeface="+mn-ea"/>
              </a:rPr>
              <a:t>通过对通信工具、接口列表、接口实体的组合，形成按专业类型、告警类型、事件类型等多维度分类的接口服务。</a:t>
            </a:r>
          </a:p>
        </p:txBody>
      </p:sp>
    </p:spTree>
    <p:extLst>
      <p:ext uri="{BB962C8B-B14F-4D97-AF65-F5344CB8AC3E}">
        <p14:creationId xmlns:p14="http://schemas.microsoft.com/office/powerpoint/2010/main" val="2099698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/>
        </p:nvSpPr>
        <p:spPr>
          <a:xfrm>
            <a:off x="280091" y="205006"/>
            <a:ext cx="8626436" cy="4780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defTabSz="914126"/>
            <a:r>
              <a:rPr lang="zh-CN" altLang="en-US" sz="2400" dirty="0">
                <a:latin typeface="+mn-ea"/>
                <a:ea typeface="+mn-ea"/>
              </a:rPr>
              <a:t>客户端</a:t>
            </a:r>
            <a:r>
              <a:rPr lang="en-US" altLang="zh-CN" sz="2400" dirty="0">
                <a:latin typeface="+mn-ea"/>
                <a:ea typeface="+mn-ea"/>
              </a:rPr>
              <a:t>1.0</a:t>
            </a:r>
            <a:r>
              <a:rPr lang="zh-CN" altLang="en-US" sz="2400" dirty="0">
                <a:latin typeface="+mn-ea"/>
                <a:ea typeface="+mn-ea"/>
              </a:rPr>
              <a:t>框架介绍</a:t>
            </a:r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0DF22029-4480-5C5B-D3AA-9B616A45AA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4918685"/>
              </p:ext>
            </p:extLst>
          </p:nvPr>
        </p:nvGraphicFramePr>
        <p:xfrm>
          <a:off x="2056939" y="89007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452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CD67144-15CA-35B6-F84B-40985A4AB3BA}"/>
              </a:ext>
            </a:extLst>
          </p:cNvPr>
          <p:cNvSpPr/>
          <p:nvPr/>
        </p:nvSpPr>
        <p:spPr>
          <a:xfrm>
            <a:off x="951" y="0"/>
            <a:ext cx="4009008" cy="6859588"/>
          </a:xfrm>
          <a:prstGeom prst="rect">
            <a:avLst/>
          </a:prstGeom>
          <a:solidFill>
            <a:srgbClr val="0049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 defTabSz="1219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CAADEDEF-BD21-DCC4-F236-5652009CB40E}"/>
              </a:ext>
            </a:extLst>
          </p:cNvPr>
          <p:cNvSpPr txBox="1"/>
          <p:nvPr/>
        </p:nvSpPr>
        <p:spPr>
          <a:xfrm>
            <a:off x="962871" y="3777444"/>
            <a:ext cx="2375576" cy="5848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en-US" altLang="zh-CN" sz="3200" dirty="0">
                <a:solidFill>
                  <a:prstClr val="white"/>
                </a:solidFill>
                <a:latin typeface="Agency FB" panose="020B0503020202020204" pitchFamily="34" charset="0"/>
                <a:ea typeface="Adobe 宋体 Std L" panose="02020300000000000000" pitchFamily="18" charset="-122"/>
              </a:rPr>
              <a:t>Contents </a:t>
            </a:r>
            <a:endParaRPr lang="zh-CN" altLang="en-US" sz="3200" dirty="0">
              <a:solidFill>
                <a:prstClr val="white"/>
              </a:solidFill>
              <a:latin typeface="Agency FB" panose="020B0503020202020204" pitchFamily="34" charset="0"/>
              <a:ea typeface="Adobe 宋体 Std L" panose="02020300000000000000" pitchFamily="18" charset="-122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438CD029-CBEC-32C7-9F68-BC7AAC1676C7}"/>
              </a:ext>
            </a:extLst>
          </p:cNvPr>
          <p:cNvSpPr txBox="1"/>
          <p:nvPr/>
        </p:nvSpPr>
        <p:spPr>
          <a:xfrm>
            <a:off x="1068378" y="2363903"/>
            <a:ext cx="2375576" cy="85161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zh-CN" altLang="en-US" sz="4935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目录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6B5D381-8224-902B-80BA-CC70F5616FE2}"/>
              </a:ext>
            </a:extLst>
          </p:cNvPr>
          <p:cNvSpPr txBox="1"/>
          <p:nvPr/>
        </p:nvSpPr>
        <p:spPr>
          <a:xfrm>
            <a:off x="5969635" y="40427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04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下一步工作展望与计划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0E654E9-F736-08A0-1654-37C1542FE014}"/>
              </a:ext>
            </a:extLst>
          </p:cNvPr>
          <p:cNvSpPr txBox="1"/>
          <p:nvPr/>
        </p:nvSpPr>
        <p:spPr>
          <a:xfrm>
            <a:off x="5969635" y="1680845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01  </a:t>
            </a:r>
            <a:r>
              <a:rPr lang="en-US" altLang="zh-CN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1.0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框架介绍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282BC4C4-27D0-1D05-6B35-8DF332C47513}"/>
              </a:ext>
            </a:extLst>
          </p:cNvPr>
          <p:cNvSpPr txBox="1"/>
          <p:nvPr/>
        </p:nvSpPr>
        <p:spPr>
          <a:xfrm>
            <a:off x="5969635" y="24679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02    </a:t>
            </a:r>
            <a:r>
              <a:rPr lang="zh-CN" altLang="en-US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2.0</a:t>
            </a:r>
            <a:r>
              <a:rPr lang="zh-CN" altLang="en-US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框架介绍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5645EFF-9BC1-C874-612D-0E6EA1B373EF}"/>
              </a:ext>
            </a:extLst>
          </p:cNvPr>
          <p:cNvSpPr txBox="1"/>
          <p:nvPr/>
        </p:nvSpPr>
        <p:spPr>
          <a:xfrm>
            <a:off x="5969635" y="32553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03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2.0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开发进度</a:t>
            </a:r>
          </a:p>
        </p:txBody>
      </p:sp>
    </p:spTree>
    <p:extLst>
      <p:ext uri="{BB962C8B-B14F-4D97-AF65-F5344CB8AC3E}">
        <p14:creationId xmlns:p14="http://schemas.microsoft.com/office/powerpoint/2010/main" val="26169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/>
        </p:nvSpPr>
        <p:spPr>
          <a:xfrm>
            <a:off x="280091" y="220463"/>
            <a:ext cx="8626436" cy="4780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defTabSz="914126"/>
            <a:r>
              <a:rPr lang="zh-CN" altLang="en-US" sz="2400" dirty="0">
                <a:latin typeface="+mn-ea"/>
                <a:ea typeface="+mn-ea"/>
              </a:rPr>
              <a:t>客户端</a:t>
            </a:r>
            <a:r>
              <a:rPr lang="en-US" altLang="zh-CN" sz="2400" dirty="0">
                <a:latin typeface="+mn-ea"/>
                <a:ea typeface="+mn-ea"/>
              </a:rPr>
              <a:t>2.0</a:t>
            </a:r>
            <a:r>
              <a:rPr lang="zh-CN" altLang="en-US" sz="2400" dirty="0">
                <a:latin typeface="+mn-ea"/>
                <a:ea typeface="+mn-ea"/>
              </a:rPr>
              <a:t>框架介绍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78F17D3-1EE3-A5AD-975A-E8FC69015752}"/>
              </a:ext>
            </a:extLst>
          </p:cNvPr>
          <p:cNvGrpSpPr/>
          <p:nvPr/>
        </p:nvGrpSpPr>
        <p:grpSpPr>
          <a:xfrm>
            <a:off x="1480769" y="3242168"/>
            <a:ext cx="3155952" cy="2766184"/>
            <a:chOff x="1424138" y="1698798"/>
            <a:chExt cx="4303105" cy="3914148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F47CB5F-A52F-91A3-1E53-FC0770FBCF77}"/>
                </a:ext>
              </a:extLst>
            </p:cNvPr>
            <p:cNvGrpSpPr/>
            <p:nvPr/>
          </p:nvGrpSpPr>
          <p:grpSpPr>
            <a:xfrm>
              <a:off x="1424138" y="1698798"/>
              <a:ext cx="3576016" cy="3752200"/>
              <a:chOff x="1855843" y="2112966"/>
              <a:chExt cx="3290834" cy="3134928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26E379A-B1EE-403A-89FE-FA4E1F3F350C}"/>
                  </a:ext>
                </a:extLst>
              </p:cNvPr>
              <p:cNvSpPr txBox="1"/>
              <p:nvPr/>
            </p:nvSpPr>
            <p:spPr>
              <a:xfrm>
                <a:off x="1855843" y="2170399"/>
                <a:ext cx="1814533" cy="25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dirty="0">
                    <a:solidFill>
                      <a:schemeClr val="bg1"/>
                    </a:solidFill>
                  </a:rPr>
                  <a:t>模可弹出，独立进程运行</a:t>
                </a:r>
              </a:p>
            </p:txBody>
          </p:sp>
          <p:sp>
            <p:nvSpPr>
              <p:cNvPr id="17" name="右大括号 16">
                <a:extLst>
                  <a:ext uri="{FF2B5EF4-FFF2-40B4-BE49-F238E27FC236}">
                    <a16:creationId xmlns:a16="http://schemas.microsoft.com/office/drawing/2014/main" id="{262B0365-0753-5F38-B734-EA9609E2B542}"/>
                  </a:ext>
                </a:extLst>
              </p:cNvPr>
              <p:cNvSpPr/>
              <p:nvPr/>
            </p:nvSpPr>
            <p:spPr>
              <a:xfrm rot="5400000">
                <a:off x="2601941" y="1808137"/>
                <a:ext cx="91566" cy="701223"/>
              </a:xfrm>
              <a:prstGeom prst="rightBrac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右大括号 17">
                <a:extLst>
                  <a:ext uri="{FF2B5EF4-FFF2-40B4-BE49-F238E27FC236}">
                    <a16:creationId xmlns:a16="http://schemas.microsoft.com/office/drawing/2014/main" id="{3081E0A0-B78F-92BA-54F6-14A0A2B28E78}"/>
                  </a:ext>
                </a:extLst>
              </p:cNvPr>
              <p:cNvSpPr/>
              <p:nvPr/>
            </p:nvSpPr>
            <p:spPr>
              <a:xfrm rot="16200000">
                <a:off x="4135439" y="4236656"/>
                <a:ext cx="96837" cy="1925639"/>
              </a:xfrm>
              <a:prstGeom prst="rightBrac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0AC2AE-A81A-C758-2827-B6B9CA3387EA}"/>
                  </a:ext>
                </a:extLst>
              </p:cNvPr>
              <p:cNvSpPr txBox="1"/>
              <p:nvPr/>
            </p:nvSpPr>
            <p:spPr>
              <a:xfrm>
                <a:off x="3309988" y="4942836"/>
                <a:ext cx="1759856" cy="25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dirty="0">
                    <a:solidFill>
                      <a:schemeClr val="bg1"/>
                    </a:solidFill>
                  </a:rPr>
                  <a:t>内容可后端配置，灵活展示</a:t>
                </a:r>
              </a:p>
            </p:txBody>
          </p:sp>
        </p:grpSp>
        <p:sp>
          <p:nvSpPr>
            <p:cNvPr id="22" name="右大括号 21">
              <a:extLst>
                <a:ext uri="{FF2B5EF4-FFF2-40B4-BE49-F238E27FC236}">
                  <a16:creationId xmlns:a16="http://schemas.microsoft.com/office/drawing/2014/main" id="{4547A2B6-DA62-572A-1312-6F6B693CC9FC}"/>
                </a:ext>
              </a:extLst>
            </p:cNvPr>
            <p:cNvSpPr/>
            <p:nvPr/>
          </p:nvSpPr>
          <p:spPr>
            <a:xfrm rot="10800000">
              <a:off x="5608861" y="1845129"/>
              <a:ext cx="118382" cy="3767817"/>
            </a:xfrm>
            <a:prstGeom prst="rightBrace">
              <a:avLst>
                <a:gd name="adj1" fmla="val 8333"/>
                <a:gd name="adj2" fmla="val 49675"/>
              </a:avLst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EDDA484-976F-7B83-8461-B5345873198A}"/>
                </a:ext>
              </a:extLst>
            </p:cNvPr>
            <p:cNvSpPr txBox="1"/>
            <p:nvPr/>
          </p:nvSpPr>
          <p:spPr>
            <a:xfrm>
              <a:off x="5272696" y="3153360"/>
              <a:ext cx="419650" cy="137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各模块可弹出展示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78FCDCA-B31F-2827-38C4-04FE99F3E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19" y="1856472"/>
            <a:ext cx="7919720" cy="46254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E1A42CC-BF2D-4441-C2C8-A2F58F0260E5}"/>
              </a:ext>
            </a:extLst>
          </p:cNvPr>
          <p:cNvSpPr txBox="1"/>
          <p:nvPr/>
        </p:nvSpPr>
        <p:spPr>
          <a:xfrm>
            <a:off x="8345064" y="2297216"/>
            <a:ext cx="3211417" cy="2639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业务需求：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1</a:t>
            </a:r>
            <a:r>
              <a:rPr lang="zh-CN" altLang="en-US" sz="1400" dirty="0">
                <a:latin typeface="+mn-ea"/>
              </a:rPr>
              <a:t>）界面内容可配置。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2</a:t>
            </a:r>
            <a:r>
              <a:rPr lang="zh-CN" altLang="en-US" sz="1400" dirty="0">
                <a:latin typeface="+mn-ea"/>
              </a:rPr>
              <a:t>）界面任意内容可弹出显示，充分利用多屏显示。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3</a:t>
            </a:r>
            <a:r>
              <a:rPr lang="zh-CN" altLang="en-US" sz="1400" dirty="0">
                <a:latin typeface="+mn-ea"/>
              </a:rPr>
              <a:t>）界面可自动跳转。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4</a:t>
            </a:r>
            <a:r>
              <a:rPr lang="zh-CN" altLang="en-US" sz="1400" dirty="0">
                <a:latin typeface="+mn-ea"/>
              </a:rPr>
              <a:t>）界面分辨率自适应。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5</a:t>
            </a:r>
            <a:r>
              <a:rPr lang="zh-CN" altLang="en-US" sz="1400" dirty="0">
                <a:latin typeface="+mn-ea"/>
              </a:rPr>
              <a:t>）页面导航内容可配置。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6</a:t>
            </a:r>
            <a:r>
              <a:rPr lang="zh-CN" altLang="en-US" sz="1400" dirty="0">
                <a:latin typeface="+mn-ea"/>
              </a:rPr>
              <a:t>）客户端内容管理可视化。</a:t>
            </a:r>
            <a:endParaRPr lang="en-US" altLang="zh-CN" sz="14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4F1348-AAB5-4AFC-3619-BDBF07646978}"/>
              </a:ext>
            </a:extLst>
          </p:cNvPr>
          <p:cNvSpPr txBox="1"/>
          <p:nvPr/>
        </p:nvSpPr>
        <p:spPr>
          <a:xfrm>
            <a:off x="250690" y="731628"/>
            <a:ext cx="11412066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zh-CN" sz="1400" kern="100" dirty="0">
                <a:effectLst/>
                <a:latin typeface="+mn-ea"/>
              </a:rPr>
              <a:t>客户端</a:t>
            </a:r>
            <a:r>
              <a:rPr lang="en-US" altLang="zh-CN" sz="1400" kern="100" dirty="0">
                <a:effectLst/>
                <a:latin typeface="+mn-ea"/>
              </a:rPr>
              <a:t>2.0</a:t>
            </a:r>
            <a:r>
              <a:rPr lang="zh-CN" altLang="en-US" sz="1400" kern="100" dirty="0">
                <a:effectLst/>
                <a:latin typeface="+mn-ea"/>
              </a:rPr>
              <a:t>框架</a:t>
            </a:r>
            <a:r>
              <a:rPr lang="zh-CN" altLang="zh-CN" sz="1400" kern="100" dirty="0">
                <a:effectLst/>
                <a:latin typeface="+mn-ea"/>
              </a:rPr>
              <a:t>是在原有框架基础上，根据实际项目要求，进行的框架升级。在保证业务需求的情况下，提高客户端的流畅性、稳定性，同时增强代码的复用性和扩展性，将更多的时间投入到业务界面的开发设计中，使项目规范化，便于管理与维护。</a:t>
            </a:r>
          </a:p>
        </p:txBody>
      </p:sp>
    </p:spTree>
    <p:extLst>
      <p:ext uri="{BB962C8B-B14F-4D97-AF65-F5344CB8AC3E}">
        <p14:creationId xmlns:p14="http://schemas.microsoft.com/office/powerpoint/2010/main" val="344850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/>
        </p:nvSpPr>
        <p:spPr>
          <a:xfrm>
            <a:off x="280091" y="220463"/>
            <a:ext cx="8626436" cy="4780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defTabSz="914126"/>
            <a:r>
              <a:rPr lang="zh-CN" altLang="en-US" sz="2400" dirty="0">
                <a:latin typeface="+mn-ea"/>
                <a:ea typeface="+mn-ea"/>
              </a:rPr>
              <a:t>客户端</a:t>
            </a:r>
            <a:r>
              <a:rPr lang="en-US" altLang="zh-CN" sz="2400" dirty="0">
                <a:latin typeface="+mn-ea"/>
                <a:ea typeface="+mn-ea"/>
              </a:rPr>
              <a:t>2.0</a:t>
            </a:r>
            <a:r>
              <a:rPr lang="zh-CN" altLang="en-US" sz="2400" dirty="0">
                <a:latin typeface="+mn-ea"/>
                <a:ea typeface="+mn-ea"/>
              </a:rPr>
              <a:t>框架介绍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78F17D3-1EE3-A5AD-975A-E8FC69015752}"/>
              </a:ext>
            </a:extLst>
          </p:cNvPr>
          <p:cNvGrpSpPr/>
          <p:nvPr/>
        </p:nvGrpSpPr>
        <p:grpSpPr>
          <a:xfrm>
            <a:off x="1480769" y="3242168"/>
            <a:ext cx="3155952" cy="2766184"/>
            <a:chOff x="1424138" y="1698798"/>
            <a:chExt cx="4303105" cy="3914148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F47CB5F-A52F-91A3-1E53-FC0770FBCF77}"/>
                </a:ext>
              </a:extLst>
            </p:cNvPr>
            <p:cNvGrpSpPr/>
            <p:nvPr/>
          </p:nvGrpSpPr>
          <p:grpSpPr>
            <a:xfrm>
              <a:off x="1424138" y="1698798"/>
              <a:ext cx="3576016" cy="3752200"/>
              <a:chOff x="1855843" y="2112966"/>
              <a:chExt cx="3290834" cy="3134928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26E379A-B1EE-403A-89FE-FA4E1F3F350C}"/>
                  </a:ext>
                </a:extLst>
              </p:cNvPr>
              <p:cNvSpPr txBox="1"/>
              <p:nvPr/>
            </p:nvSpPr>
            <p:spPr>
              <a:xfrm>
                <a:off x="1855843" y="2170399"/>
                <a:ext cx="1814533" cy="25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dirty="0">
                    <a:solidFill>
                      <a:schemeClr val="bg1"/>
                    </a:solidFill>
                  </a:rPr>
                  <a:t>模可弹出，独立进程运行</a:t>
                </a:r>
              </a:p>
            </p:txBody>
          </p:sp>
          <p:sp>
            <p:nvSpPr>
              <p:cNvPr id="17" name="右大括号 16">
                <a:extLst>
                  <a:ext uri="{FF2B5EF4-FFF2-40B4-BE49-F238E27FC236}">
                    <a16:creationId xmlns:a16="http://schemas.microsoft.com/office/drawing/2014/main" id="{262B0365-0753-5F38-B734-EA9609E2B542}"/>
                  </a:ext>
                </a:extLst>
              </p:cNvPr>
              <p:cNvSpPr/>
              <p:nvPr/>
            </p:nvSpPr>
            <p:spPr>
              <a:xfrm rot="5400000">
                <a:off x="2601941" y="1808137"/>
                <a:ext cx="91566" cy="701223"/>
              </a:xfrm>
              <a:prstGeom prst="rightBrac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右大括号 17">
                <a:extLst>
                  <a:ext uri="{FF2B5EF4-FFF2-40B4-BE49-F238E27FC236}">
                    <a16:creationId xmlns:a16="http://schemas.microsoft.com/office/drawing/2014/main" id="{3081E0A0-B78F-92BA-54F6-14A0A2B28E78}"/>
                  </a:ext>
                </a:extLst>
              </p:cNvPr>
              <p:cNvSpPr/>
              <p:nvPr/>
            </p:nvSpPr>
            <p:spPr>
              <a:xfrm rot="16200000">
                <a:off x="4135439" y="4236656"/>
                <a:ext cx="96837" cy="1925639"/>
              </a:xfrm>
              <a:prstGeom prst="rightBrac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0AC2AE-A81A-C758-2827-B6B9CA3387EA}"/>
                  </a:ext>
                </a:extLst>
              </p:cNvPr>
              <p:cNvSpPr txBox="1"/>
              <p:nvPr/>
            </p:nvSpPr>
            <p:spPr>
              <a:xfrm>
                <a:off x="3309988" y="4942836"/>
                <a:ext cx="1759856" cy="25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dirty="0">
                    <a:solidFill>
                      <a:schemeClr val="bg1"/>
                    </a:solidFill>
                  </a:rPr>
                  <a:t>内容可后端配置，灵活展示</a:t>
                </a:r>
              </a:p>
            </p:txBody>
          </p:sp>
        </p:grpSp>
        <p:sp>
          <p:nvSpPr>
            <p:cNvPr id="22" name="右大括号 21">
              <a:extLst>
                <a:ext uri="{FF2B5EF4-FFF2-40B4-BE49-F238E27FC236}">
                  <a16:creationId xmlns:a16="http://schemas.microsoft.com/office/drawing/2014/main" id="{4547A2B6-DA62-572A-1312-6F6B693CC9FC}"/>
                </a:ext>
              </a:extLst>
            </p:cNvPr>
            <p:cNvSpPr/>
            <p:nvPr/>
          </p:nvSpPr>
          <p:spPr>
            <a:xfrm rot="10800000">
              <a:off x="5608861" y="1845129"/>
              <a:ext cx="118382" cy="3767817"/>
            </a:xfrm>
            <a:prstGeom prst="rightBrace">
              <a:avLst>
                <a:gd name="adj1" fmla="val 8333"/>
                <a:gd name="adj2" fmla="val 49675"/>
              </a:avLst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EDDA484-976F-7B83-8461-B5345873198A}"/>
                </a:ext>
              </a:extLst>
            </p:cNvPr>
            <p:cNvSpPr txBox="1"/>
            <p:nvPr/>
          </p:nvSpPr>
          <p:spPr>
            <a:xfrm>
              <a:off x="5272696" y="3153360"/>
              <a:ext cx="419650" cy="137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各模块可弹出展示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E1A42CC-BF2D-4441-C2C8-A2F58F0260E5}"/>
              </a:ext>
            </a:extLst>
          </p:cNvPr>
          <p:cNvSpPr txBox="1"/>
          <p:nvPr/>
        </p:nvSpPr>
        <p:spPr>
          <a:xfrm>
            <a:off x="8255420" y="2326886"/>
            <a:ext cx="3211417" cy="2962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技术需求：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1</a:t>
            </a:r>
            <a:r>
              <a:rPr lang="zh-CN" altLang="en-US" sz="1400" dirty="0">
                <a:latin typeface="+mn-ea"/>
              </a:rPr>
              <a:t>）多进程开发，提高客户端稳定性。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2</a:t>
            </a:r>
            <a:r>
              <a:rPr lang="zh-CN" altLang="en-US" sz="1400" dirty="0">
                <a:latin typeface="+mn-ea"/>
              </a:rPr>
              <a:t>）功能模块化，模块间可独立部署，降低耦合性。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3</a:t>
            </a:r>
            <a:r>
              <a:rPr lang="zh-CN" altLang="en-US" sz="1400" dirty="0">
                <a:latin typeface="+mn-ea"/>
              </a:rPr>
              <a:t>）界面</a:t>
            </a:r>
            <a:r>
              <a:rPr lang="en-US" altLang="zh-CN" sz="1400" dirty="0">
                <a:latin typeface="+mn-ea"/>
              </a:rPr>
              <a:t>UI</a:t>
            </a:r>
            <a:r>
              <a:rPr lang="zh-CN" altLang="en-US" sz="1400" dirty="0">
                <a:latin typeface="+mn-ea"/>
              </a:rPr>
              <a:t>多线程，减少线程占用导致的界面卡顿。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4</a:t>
            </a:r>
            <a:r>
              <a:rPr lang="zh-CN" altLang="en-US" sz="1400" dirty="0">
                <a:latin typeface="+mn-ea"/>
              </a:rPr>
              <a:t>）外部应用嵌入，提高客户端扩展性。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5</a:t>
            </a:r>
            <a:r>
              <a:rPr lang="zh-CN" altLang="en-US" sz="1400" dirty="0">
                <a:latin typeface="+mn-ea"/>
              </a:rPr>
              <a:t>）组件库与资源库插件化，便于日常更新维护。</a:t>
            </a:r>
            <a:endParaRPr lang="en-US" altLang="zh-CN" sz="14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4F1348-AAB5-4AFC-3619-BDBF07646978}"/>
              </a:ext>
            </a:extLst>
          </p:cNvPr>
          <p:cNvSpPr txBox="1"/>
          <p:nvPr/>
        </p:nvSpPr>
        <p:spPr>
          <a:xfrm>
            <a:off x="202782" y="758099"/>
            <a:ext cx="11906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8782"/>
            <a:r>
              <a:rPr lang="en-US" altLang="zh-CN" sz="1800" dirty="0">
                <a:solidFill>
                  <a:prstClr val="black"/>
                </a:solidFill>
                <a:ea typeface="微软雅黑"/>
              </a:rPr>
              <a:t>    </a:t>
            </a:r>
            <a:endParaRPr lang="zh-CN" altLang="en-US" sz="1800" dirty="0">
              <a:solidFill>
                <a:prstClr val="black"/>
              </a:solidFill>
              <a:ea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5679CF-9A03-B2CA-B328-8C915041335B}"/>
              </a:ext>
            </a:extLst>
          </p:cNvPr>
          <p:cNvSpPr txBox="1"/>
          <p:nvPr/>
        </p:nvSpPr>
        <p:spPr>
          <a:xfrm>
            <a:off x="305361" y="704603"/>
            <a:ext cx="11701593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8782"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    主要采用多进程开发，将业务应用模块化，创建客户端服务，使不同业务应用建立连接， 通过制定统一的通信信息标准，实现与外部应用之间的交互。与编辑器结合，可快速创建用户自定义业务模块。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9F003A-A40D-1F7D-03A6-2DE3C2607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08" y="1937588"/>
            <a:ext cx="7411046" cy="407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6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178F17D3-1EE3-A5AD-975A-E8FC69015752}"/>
              </a:ext>
            </a:extLst>
          </p:cNvPr>
          <p:cNvGrpSpPr/>
          <p:nvPr/>
        </p:nvGrpSpPr>
        <p:grpSpPr>
          <a:xfrm>
            <a:off x="708468" y="3092782"/>
            <a:ext cx="5008780" cy="2990301"/>
            <a:chOff x="371114" y="1487417"/>
            <a:chExt cx="6829415" cy="4231273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F47CB5F-A52F-91A3-1E53-FC0770FBCF77}"/>
                </a:ext>
              </a:extLst>
            </p:cNvPr>
            <p:cNvGrpSpPr/>
            <p:nvPr/>
          </p:nvGrpSpPr>
          <p:grpSpPr>
            <a:xfrm>
              <a:off x="371114" y="1487417"/>
              <a:ext cx="6829415" cy="4231273"/>
              <a:chOff x="886796" y="1936359"/>
              <a:chExt cx="6284780" cy="3535189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A8CC9A01-8F09-FEEE-0B01-0A00DA513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6796" y="1936359"/>
                <a:ext cx="6284780" cy="3535189"/>
              </a:xfrm>
              <a:prstGeom prst="rect">
                <a:avLst/>
              </a:prstGeom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26E379A-B1EE-403A-89FE-FA4E1F3F350C}"/>
                  </a:ext>
                </a:extLst>
              </p:cNvPr>
              <p:cNvSpPr txBox="1"/>
              <p:nvPr/>
            </p:nvSpPr>
            <p:spPr>
              <a:xfrm>
                <a:off x="1855843" y="2170399"/>
                <a:ext cx="1814533" cy="25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dirty="0">
                    <a:solidFill>
                      <a:schemeClr val="bg1"/>
                    </a:solidFill>
                  </a:rPr>
                  <a:t>模块可弹出，独立进程运行</a:t>
                </a:r>
              </a:p>
            </p:txBody>
          </p:sp>
          <p:sp>
            <p:nvSpPr>
              <p:cNvPr id="17" name="右大括号 16">
                <a:extLst>
                  <a:ext uri="{FF2B5EF4-FFF2-40B4-BE49-F238E27FC236}">
                    <a16:creationId xmlns:a16="http://schemas.microsoft.com/office/drawing/2014/main" id="{262B0365-0753-5F38-B734-EA9609E2B542}"/>
                  </a:ext>
                </a:extLst>
              </p:cNvPr>
              <p:cNvSpPr/>
              <p:nvPr/>
            </p:nvSpPr>
            <p:spPr>
              <a:xfrm rot="5400000">
                <a:off x="2601941" y="1808137"/>
                <a:ext cx="91566" cy="701223"/>
              </a:xfrm>
              <a:prstGeom prst="rightBrac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右大括号 17">
                <a:extLst>
                  <a:ext uri="{FF2B5EF4-FFF2-40B4-BE49-F238E27FC236}">
                    <a16:creationId xmlns:a16="http://schemas.microsoft.com/office/drawing/2014/main" id="{3081E0A0-B78F-92BA-54F6-14A0A2B28E78}"/>
                  </a:ext>
                </a:extLst>
              </p:cNvPr>
              <p:cNvSpPr/>
              <p:nvPr/>
            </p:nvSpPr>
            <p:spPr>
              <a:xfrm rot="16200000">
                <a:off x="4135439" y="4236656"/>
                <a:ext cx="96837" cy="1925639"/>
              </a:xfrm>
              <a:prstGeom prst="rightBrac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0AC2AE-A81A-C758-2827-B6B9CA3387EA}"/>
                  </a:ext>
                </a:extLst>
              </p:cNvPr>
              <p:cNvSpPr txBox="1"/>
              <p:nvPr/>
            </p:nvSpPr>
            <p:spPr>
              <a:xfrm>
                <a:off x="3309988" y="4942836"/>
                <a:ext cx="1759856" cy="25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dirty="0">
                    <a:solidFill>
                      <a:schemeClr val="bg1"/>
                    </a:solidFill>
                  </a:rPr>
                  <a:t>内容可后端配置，灵活展示</a:t>
                </a:r>
              </a:p>
            </p:txBody>
          </p:sp>
        </p:grpSp>
        <p:sp>
          <p:nvSpPr>
            <p:cNvPr id="22" name="右大括号 21">
              <a:extLst>
                <a:ext uri="{FF2B5EF4-FFF2-40B4-BE49-F238E27FC236}">
                  <a16:creationId xmlns:a16="http://schemas.microsoft.com/office/drawing/2014/main" id="{4547A2B6-DA62-572A-1312-6F6B693CC9FC}"/>
                </a:ext>
              </a:extLst>
            </p:cNvPr>
            <p:cNvSpPr/>
            <p:nvPr/>
          </p:nvSpPr>
          <p:spPr>
            <a:xfrm rot="10800000">
              <a:off x="5608861" y="1845129"/>
              <a:ext cx="118382" cy="3767817"/>
            </a:xfrm>
            <a:prstGeom prst="rightBrace">
              <a:avLst>
                <a:gd name="adj1" fmla="val 8333"/>
                <a:gd name="adj2" fmla="val 49675"/>
              </a:avLst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EDDA484-976F-7B83-8461-B5345873198A}"/>
                </a:ext>
              </a:extLst>
            </p:cNvPr>
            <p:cNvSpPr txBox="1"/>
            <p:nvPr/>
          </p:nvSpPr>
          <p:spPr>
            <a:xfrm>
              <a:off x="5272696" y="3153360"/>
              <a:ext cx="419650" cy="137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各模块可弹出展示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2161694-FE0F-217B-15CC-E586883CA209}"/>
              </a:ext>
            </a:extLst>
          </p:cNvPr>
          <p:cNvSpPr txBox="1"/>
          <p:nvPr/>
        </p:nvSpPr>
        <p:spPr>
          <a:xfrm>
            <a:off x="2582050" y="6085683"/>
            <a:ext cx="1130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展示界面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C9C1771-F314-E316-C4A3-152F3758714B}"/>
              </a:ext>
            </a:extLst>
          </p:cNvPr>
          <p:cNvSpPr txBox="1"/>
          <p:nvPr/>
        </p:nvSpPr>
        <p:spPr>
          <a:xfrm>
            <a:off x="8833171" y="6099291"/>
            <a:ext cx="1130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编辑页面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D4FF5089-B503-BE04-1E19-9754B1B0F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548" y="3099823"/>
            <a:ext cx="5303573" cy="298326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5A6ACBB-41FB-3445-5832-C330CF9D8DEB}"/>
              </a:ext>
            </a:extLst>
          </p:cNvPr>
          <p:cNvSpPr txBox="1"/>
          <p:nvPr/>
        </p:nvSpPr>
        <p:spPr>
          <a:xfrm>
            <a:off x="512345" y="1044176"/>
            <a:ext cx="10919586" cy="134690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>
                <a:latin typeface="+mn-ea"/>
              </a:rPr>
              <a:t>界面展示功能：界面根据后台配置信息渲染，页面灵活性高、页面之间可自动跳转、各模块均可弹出显示、主进程可监控子进程运行状况，界面屏幕分辨率自适应，无需配置，自动适配</a:t>
            </a: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页面编辑功能：页面编辑功能：</a:t>
            </a:r>
            <a:r>
              <a:rPr lang="zh-CN" altLang="en-US" sz="1400" dirty="0">
                <a:latin typeface="+mn-ea"/>
              </a:rPr>
              <a:t>页面可快速启动编辑，用户可任意替换组件和任意布局、业务组件插件的形式加载，组件库扩展性强、用户可新建页面，实现信息组团界面</a:t>
            </a:r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kumimoji="1"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CB676E4A-2E51-C31E-AFD1-83A541799E69}"/>
              </a:ext>
            </a:extLst>
          </p:cNvPr>
          <p:cNvSpPr>
            <a:spLocks noGrp="1"/>
          </p:cNvSpPr>
          <p:nvPr/>
        </p:nvSpPr>
        <p:spPr>
          <a:xfrm>
            <a:off x="280091" y="220463"/>
            <a:ext cx="8626436" cy="4780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defTabSz="914126"/>
            <a:r>
              <a:rPr lang="zh-CN" altLang="en-US" sz="2400" dirty="0">
                <a:latin typeface="+mn-ea"/>
                <a:ea typeface="+mn-ea"/>
              </a:rPr>
              <a:t>客户端</a:t>
            </a:r>
            <a:r>
              <a:rPr lang="en-US" altLang="zh-CN" sz="2400" dirty="0">
                <a:latin typeface="+mn-ea"/>
                <a:ea typeface="+mn-ea"/>
              </a:rPr>
              <a:t>2.0</a:t>
            </a:r>
            <a:r>
              <a:rPr lang="zh-CN" altLang="en-US" sz="2400" dirty="0">
                <a:latin typeface="+mn-ea"/>
                <a:ea typeface="+mn-ea"/>
              </a:rPr>
              <a:t>框架介绍</a:t>
            </a:r>
          </a:p>
        </p:txBody>
      </p:sp>
    </p:spTree>
    <p:extLst>
      <p:ext uri="{BB962C8B-B14F-4D97-AF65-F5344CB8AC3E}">
        <p14:creationId xmlns:p14="http://schemas.microsoft.com/office/powerpoint/2010/main" val="2721970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/>
        </p:nvSpPr>
        <p:spPr>
          <a:xfrm>
            <a:off x="280091" y="220463"/>
            <a:ext cx="8626436" cy="4780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defTabSz="914126"/>
            <a:r>
              <a:rPr lang="zh-CN" altLang="en-US" sz="2400" dirty="0">
                <a:latin typeface="+mn-ea"/>
                <a:ea typeface="+mn-ea"/>
              </a:rPr>
              <a:t>客户端</a:t>
            </a:r>
            <a:r>
              <a:rPr lang="en-US" altLang="zh-CN" sz="2400" dirty="0">
                <a:latin typeface="+mn-ea"/>
                <a:ea typeface="+mn-ea"/>
              </a:rPr>
              <a:t>2.0</a:t>
            </a:r>
            <a:r>
              <a:rPr lang="zh-CN" altLang="en-US" sz="2400" dirty="0">
                <a:latin typeface="+mn-ea"/>
                <a:ea typeface="+mn-ea"/>
              </a:rPr>
              <a:t>框架介绍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78F17D3-1EE3-A5AD-975A-E8FC69015752}"/>
              </a:ext>
            </a:extLst>
          </p:cNvPr>
          <p:cNvGrpSpPr/>
          <p:nvPr/>
        </p:nvGrpSpPr>
        <p:grpSpPr>
          <a:xfrm>
            <a:off x="1480769" y="3242168"/>
            <a:ext cx="3155952" cy="2766184"/>
            <a:chOff x="1424138" y="1698798"/>
            <a:chExt cx="4303105" cy="3914148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F47CB5F-A52F-91A3-1E53-FC0770FBCF77}"/>
                </a:ext>
              </a:extLst>
            </p:cNvPr>
            <p:cNvGrpSpPr/>
            <p:nvPr/>
          </p:nvGrpSpPr>
          <p:grpSpPr>
            <a:xfrm>
              <a:off x="1424138" y="1698798"/>
              <a:ext cx="3576016" cy="3752200"/>
              <a:chOff x="1855843" y="2112966"/>
              <a:chExt cx="3290834" cy="3134928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26E379A-B1EE-403A-89FE-FA4E1F3F350C}"/>
                  </a:ext>
                </a:extLst>
              </p:cNvPr>
              <p:cNvSpPr txBox="1"/>
              <p:nvPr/>
            </p:nvSpPr>
            <p:spPr>
              <a:xfrm>
                <a:off x="1855843" y="2170399"/>
                <a:ext cx="1814533" cy="25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dirty="0">
                    <a:solidFill>
                      <a:schemeClr val="bg1"/>
                    </a:solidFill>
                  </a:rPr>
                  <a:t>模可弹出，独立进程运行</a:t>
                </a:r>
              </a:p>
            </p:txBody>
          </p:sp>
          <p:sp>
            <p:nvSpPr>
              <p:cNvPr id="17" name="右大括号 16">
                <a:extLst>
                  <a:ext uri="{FF2B5EF4-FFF2-40B4-BE49-F238E27FC236}">
                    <a16:creationId xmlns:a16="http://schemas.microsoft.com/office/drawing/2014/main" id="{262B0365-0753-5F38-B734-EA9609E2B542}"/>
                  </a:ext>
                </a:extLst>
              </p:cNvPr>
              <p:cNvSpPr/>
              <p:nvPr/>
            </p:nvSpPr>
            <p:spPr>
              <a:xfrm rot="5400000">
                <a:off x="2601941" y="1808137"/>
                <a:ext cx="91566" cy="701223"/>
              </a:xfrm>
              <a:prstGeom prst="rightBrac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右大括号 17">
                <a:extLst>
                  <a:ext uri="{FF2B5EF4-FFF2-40B4-BE49-F238E27FC236}">
                    <a16:creationId xmlns:a16="http://schemas.microsoft.com/office/drawing/2014/main" id="{3081E0A0-B78F-92BA-54F6-14A0A2B28E78}"/>
                  </a:ext>
                </a:extLst>
              </p:cNvPr>
              <p:cNvSpPr/>
              <p:nvPr/>
            </p:nvSpPr>
            <p:spPr>
              <a:xfrm rot="16200000">
                <a:off x="4135439" y="4236656"/>
                <a:ext cx="96837" cy="1925639"/>
              </a:xfrm>
              <a:prstGeom prst="rightBrac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0AC2AE-A81A-C758-2827-B6B9CA3387EA}"/>
                  </a:ext>
                </a:extLst>
              </p:cNvPr>
              <p:cNvSpPr txBox="1"/>
              <p:nvPr/>
            </p:nvSpPr>
            <p:spPr>
              <a:xfrm>
                <a:off x="3309988" y="4942836"/>
                <a:ext cx="1759856" cy="25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dirty="0">
                    <a:solidFill>
                      <a:schemeClr val="bg1"/>
                    </a:solidFill>
                  </a:rPr>
                  <a:t>内容可后端配置，灵活展示</a:t>
                </a:r>
              </a:p>
            </p:txBody>
          </p:sp>
        </p:grpSp>
        <p:sp>
          <p:nvSpPr>
            <p:cNvPr id="22" name="右大括号 21">
              <a:extLst>
                <a:ext uri="{FF2B5EF4-FFF2-40B4-BE49-F238E27FC236}">
                  <a16:creationId xmlns:a16="http://schemas.microsoft.com/office/drawing/2014/main" id="{4547A2B6-DA62-572A-1312-6F6B693CC9FC}"/>
                </a:ext>
              </a:extLst>
            </p:cNvPr>
            <p:cNvSpPr/>
            <p:nvPr/>
          </p:nvSpPr>
          <p:spPr>
            <a:xfrm rot="10800000">
              <a:off x="5608861" y="1845129"/>
              <a:ext cx="118382" cy="3767817"/>
            </a:xfrm>
            <a:prstGeom prst="rightBrace">
              <a:avLst>
                <a:gd name="adj1" fmla="val 8333"/>
                <a:gd name="adj2" fmla="val 49675"/>
              </a:avLst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EDDA484-976F-7B83-8461-B5345873198A}"/>
                </a:ext>
              </a:extLst>
            </p:cNvPr>
            <p:cNvSpPr txBox="1"/>
            <p:nvPr/>
          </p:nvSpPr>
          <p:spPr>
            <a:xfrm>
              <a:off x="5272696" y="3153360"/>
              <a:ext cx="419650" cy="137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各模块可弹出展示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55679CF-9A03-B2CA-B328-8C915041335B}"/>
              </a:ext>
            </a:extLst>
          </p:cNvPr>
          <p:cNvSpPr txBox="1"/>
          <p:nvPr/>
        </p:nvSpPr>
        <p:spPr>
          <a:xfrm>
            <a:off x="280091" y="957598"/>
            <a:ext cx="11701593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8782">
              <a:lnSpc>
                <a:spcPct val="150000"/>
              </a:lnSpc>
            </a:pPr>
            <a:r>
              <a:rPr lang="zh-CN" altLang="en-US" sz="1800" dirty="0">
                <a:solidFill>
                  <a:prstClr val="black"/>
                </a:solidFill>
                <a:latin typeface="+mn-ea"/>
              </a:rPr>
              <a:t>    </a:t>
            </a:r>
            <a:r>
              <a:rPr lang="zh-CN" altLang="en-US" dirty="0">
                <a:solidFill>
                  <a:prstClr val="black"/>
                </a:solidFill>
                <a:latin typeface="+mn-ea"/>
              </a:rPr>
              <a:t>客户端框架各版本主要功能对比：</a:t>
            </a:r>
            <a:endParaRPr lang="zh-CN" altLang="en-US" sz="18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7D0D8256-D007-E95D-AD2F-C611CAD09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054083"/>
              </p:ext>
            </p:extLst>
          </p:nvPr>
        </p:nvGraphicFramePr>
        <p:xfrm>
          <a:off x="1899652" y="2066685"/>
          <a:ext cx="8128000" cy="310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502954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69908247"/>
                    </a:ext>
                  </a:extLst>
                </a:gridCol>
              </a:tblGrid>
              <a:tr h="6200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2.0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dirty="0"/>
                        <a:t>1.0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847287"/>
                  </a:ext>
                </a:extLst>
              </a:tr>
              <a:tr h="6200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灵活性强，界面可配置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灵活性差，内容替换难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355688"/>
                  </a:ext>
                </a:extLst>
              </a:tr>
              <a:tr h="6200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稳定性提高，界面卡顿概率低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稳定性相对低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157743"/>
                  </a:ext>
                </a:extLst>
              </a:tr>
              <a:tr h="6200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扩展性强，易于嵌套外部软件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扩展性差，外部软件嵌入难度大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705798"/>
                  </a:ext>
                </a:extLst>
              </a:tr>
              <a:tr h="62003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/>
                        <a:t>缩短新项目开发周期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新项目开发周期长，代码改动量大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167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1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CD67144-15CA-35B6-F84B-40985A4AB3BA}"/>
              </a:ext>
            </a:extLst>
          </p:cNvPr>
          <p:cNvSpPr/>
          <p:nvPr/>
        </p:nvSpPr>
        <p:spPr>
          <a:xfrm>
            <a:off x="951" y="0"/>
            <a:ext cx="4009008" cy="6859588"/>
          </a:xfrm>
          <a:prstGeom prst="rect">
            <a:avLst/>
          </a:prstGeom>
          <a:solidFill>
            <a:srgbClr val="0049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 defTabSz="1219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CAADEDEF-BD21-DCC4-F236-5652009CB40E}"/>
              </a:ext>
            </a:extLst>
          </p:cNvPr>
          <p:cNvSpPr txBox="1"/>
          <p:nvPr/>
        </p:nvSpPr>
        <p:spPr>
          <a:xfrm>
            <a:off x="962871" y="3777444"/>
            <a:ext cx="2375576" cy="5848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en-US" altLang="zh-CN" sz="3200" dirty="0">
                <a:solidFill>
                  <a:prstClr val="white"/>
                </a:solidFill>
                <a:latin typeface="Agency FB" panose="020B0503020202020204" pitchFamily="34" charset="0"/>
                <a:ea typeface="Adobe 宋体 Std L" panose="02020300000000000000" pitchFamily="18" charset="-122"/>
              </a:rPr>
              <a:t>Contents </a:t>
            </a:r>
            <a:endParaRPr lang="zh-CN" altLang="en-US" sz="3200" dirty="0">
              <a:solidFill>
                <a:prstClr val="white"/>
              </a:solidFill>
              <a:latin typeface="Agency FB" panose="020B0503020202020204" pitchFamily="34" charset="0"/>
              <a:ea typeface="Adobe 宋体 Std L" panose="02020300000000000000" pitchFamily="18" charset="-122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438CD029-CBEC-32C7-9F68-BC7AAC1676C7}"/>
              </a:ext>
            </a:extLst>
          </p:cNvPr>
          <p:cNvSpPr txBox="1"/>
          <p:nvPr/>
        </p:nvSpPr>
        <p:spPr>
          <a:xfrm>
            <a:off x="1068378" y="2363903"/>
            <a:ext cx="2375576" cy="85161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zh-CN" altLang="en-US" sz="4935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目录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6B5D381-8224-902B-80BA-CC70F5616FE2}"/>
              </a:ext>
            </a:extLst>
          </p:cNvPr>
          <p:cNvSpPr txBox="1"/>
          <p:nvPr/>
        </p:nvSpPr>
        <p:spPr>
          <a:xfrm>
            <a:off x="5969635" y="40427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04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下一步工作展望与计划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0E654E9-F736-08A0-1654-37C1542FE014}"/>
              </a:ext>
            </a:extLst>
          </p:cNvPr>
          <p:cNvSpPr txBox="1"/>
          <p:nvPr/>
        </p:nvSpPr>
        <p:spPr>
          <a:xfrm>
            <a:off x="5969635" y="1680845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01  </a:t>
            </a:r>
            <a:r>
              <a:rPr lang="en-US" altLang="zh-CN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1.0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框架介绍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282BC4C4-27D0-1D05-6B35-8DF332C47513}"/>
              </a:ext>
            </a:extLst>
          </p:cNvPr>
          <p:cNvSpPr txBox="1"/>
          <p:nvPr/>
        </p:nvSpPr>
        <p:spPr>
          <a:xfrm>
            <a:off x="5969635" y="24679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02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2.0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框架介绍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5645EFF-9BC1-C874-612D-0E6EA1B373EF}"/>
              </a:ext>
            </a:extLst>
          </p:cNvPr>
          <p:cNvSpPr txBox="1"/>
          <p:nvPr/>
        </p:nvSpPr>
        <p:spPr>
          <a:xfrm>
            <a:off x="5969635" y="32553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03    </a:t>
            </a:r>
            <a:r>
              <a:rPr lang="zh-CN" altLang="en-US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2.0</a:t>
            </a:r>
            <a:r>
              <a:rPr lang="zh-CN" altLang="en-US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开发进度</a:t>
            </a:r>
          </a:p>
        </p:txBody>
      </p:sp>
    </p:spTree>
    <p:extLst>
      <p:ext uri="{BB962C8B-B14F-4D97-AF65-F5344CB8AC3E}">
        <p14:creationId xmlns:p14="http://schemas.microsoft.com/office/powerpoint/2010/main" val="2987361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D0B1818-C810-9F4B-5C55-9B17B4EDA2C7}"/>
              </a:ext>
            </a:extLst>
          </p:cNvPr>
          <p:cNvSpPr txBox="1"/>
          <p:nvPr/>
        </p:nvSpPr>
        <p:spPr>
          <a:xfrm>
            <a:off x="6478126" y="1257541"/>
            <a:ext cx="5288816" cy="3145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8782">
              <a:lnSpc>
                <a:spcPct val="13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已完成工作：</a:t>
            </a:r>
            <a:endParaRPr lang="en-US" altLang="zh-CN" sz="1400" dirty="0">
              <a:solidFill>
                <a:srgbClr val="FF0000"/>
              </a:solidFill>
              <a:latin typeface="+mn-ea"/>
            </a:endParaRPr>
          </a:p>
          <a:p>
            <a:pPr defTabSz="608782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）多进程管理：为不同业务模块创建独立进程，通过主进程管理子进程，实现模块之间的低耦合。</a:t>
            </a:r>
            <a:endParaRPr lang="en-US" altLang="zh-CN" sz="1400" dirty="0">
              <a:solidFill>
                <a:prstClr val="black"/>
              </a:solidFill>
              <a:latin typeface="+mn-ea"/>
            </a:endParaRPr>
          </a:p>
          <a:p>
            <a:pPr defTabSz="608782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）界面路由：为界面创建路由地址，实现界面的创建与导航，以及页面间的动态跳转。</a:t>
            </a:r>
            <a:endParaRPr lang="en-US" altLang="zh-CN" sz="1400" dirty="0">
              <a:solidFill>
                <a:prstClr val="black"/>
              </a:solidFill>
              <a:latin typeface="+mn-ea"/>
            </a:endParaRPr>
          </a:p>
          <a:p>
            <a:pPr defTabSz="608782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）界面序列化：通过对界面资源进行序列化，可将界面持久化存储到服务端，界面可以根据配置，反序列化成可视化界面。</a:t>
            </a:r>
            <a:endParaRPr lang="en-US" altLang="zh-CN" sz="1400" dirty="0">
              <a:solidFill>
                <a:prstClr val="black"/>
              </a:solidFill>
              <a:latin typeface="+mn-ea"/>
            </a:endParaRPr>
          </a:p>
          <a:p>
            <a:pPr defTabSz="608782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4</a:t>
            </a:r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）业务组件设计方法规范：为了满足界面可配置化，实现了业务组件的规范设计，让框架快速查找并创建相应组件。</a:t>
            </a:r>
            <a:endParaRPr lang="en-US" altLang="zh-CN" sz="1400" dirty="0">
              <a:solidFill>
                <a:prstClr val="black"/>
              </a:solidFill>
              <a:latin typeface="+mn-ea"/>
            </a:endParaRPr>
          </a:p>
          <a:p>
            <a:pPr defTabSz="608782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5</a:t>
            </a:r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）界面资源回收方法设计：实现页面资源定时回收，减少客户端资源占用。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93B942-54E7-46D3-4C9B-88FE688A89DE}"/>
              </a:ext>
            </a:extLst>
          </p:cNvPr>
          <p:cNvSpPr txBox="1"/>
          <p:nvPr/>
        </p:nvSpPr>
        <p:spPr>
          <a:xfrm>
            <a:off x="6478126" y="4327059"/>
            <a:ext cx="5369338" cy="174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8782">
              <a:lnSpc>
                <a:spcPct val="13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下一步工作：</a:t>
            </a:r>
            <a:endParaRPr lang="en-US" altLang="zh-CN" sz="1400" dirty="0">
              <a:solidFill>
                <a:srgbClr val="FF0000"/>
              </a:solidFill>
              <a:latin typeface="+mn-ea"/>
            </a:endParaRPr>
          </a:p>
          <a:p>
            <a:pPr defTabSz="608782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）界面编辑方法设计：实现页面可编辑，自定义编排。</a:t>
            </a:r>
            <a:endParaRPr lang="en-US" altLang="zh-CN" sz="1400" dirty="0">
              <a:solidFill>
                <a:srgbClr val="FF0000"/>
              </a:solidFill>
              <a:latin typeface="+mn-ea"/>
            </a:endParaRPr>
          </a:p>
          <a:p>
            <a:pPr defTabSz="608782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）应用版本管理：管理各个独立业务模块的版本，实现独立更新。</a:t>
            </a:r>
            <a:endParaRPr lang="en-US" altLang="zh-CN" sz="1400" dirty="0">
              <a:solidFill>
                <a:prstClr val="black"/>
              </a:solidFill>
              <a:latin typeface="+mn-ea"/>
            </a:endParaRPr>
          </a:p>
          <a:p>
            <a:pPr defTabSz="608782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）日志管理：收集客户端运行日志，可视化展示日志内容，便于定位问题。</a:t>
            </a:r>
            <a:endParaRPr lang="en-US" altLang="zh-CN" sz="1400" dirty="0">
              <a:solidFill>
                <a:prstClr val="black"/>
              </a:solidFill>
              <a:latin typeface="+mn-ea"/>
            </a:endParaRPr>
          </a:p>
          <a:p>
            <a:pPr defTabSz="608782">
              <a:lnSpc>
                <a:spcPct val="13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+mn-ea"/>
              </a:rPr>
              <a:t>4</a:t>
            </a:r>
            <a:r>
              <a:rPr lang="zh-CN" altLang="en-US" sz="1400" dirty="0">
                <a:solidFill>
                  <a:prstClr val="black"/>
                </a:solidFill>
                <a:latin typeface="+mn-ea"/>
              </a:rPr>
              <a:t>）配置管理：配置可视化程序，便于进行日常客户端配置管理。</a:t>
            </a:r>
            <a:endParaRPr lang="en-US" altLang="zh-CN" sz="1400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72DE647-C952-ABCB-A9E0-4F33C07E2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6" y="1727209"/>
            <a:ext cx="6013123" cy="3909276"/>
          </a:xfrm>
          <a:prstGeom prst="rect">
            <a:avLst/>
          </a:prstGeom>
        </p:spPr>
      </p:pic>
      <p:sp>
        <p:nvSpPr>
          <p:cNvPr id="2" name="标题 2">
            <a:extLst>
              <a:ext uri="{FF2B5EF4-FFF2-40B4-BE49-F238E27FC236}">
                <a16:creationId xmlns:a16="http://schemas.microsoft.com/office/drawing/2014/main" id="{8CC2AC45-7AD5-10B9-165D-FA0D43A05CA7}"/>
              </a:ext>
            </a:extLst>
          </p:cNvPr>
          <p:cNvSpPr>
            <a:spLocks noGrp="1"/>
          </p:cNvSpPr>
          <p:nvPr/>
        </p:nvSpPr>
        <p:spPr>
          <a:xfrm>
            <a:off x="181671" y="244168"/>
            <a:ext cx="8626436" cy="4780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defTabSz="914126"/>
            <a:r>
              <a:rPr lang="zh-CN" altLang="en-US" sz="2400" dirty="0">
                <a:latin typeface="+mn-ea"/>
                <a:ea typeface="+mn-ea"/>
              </a:rPr>
              <a:t>客户端</a:t>
            </a:r>
            <a:r>
              <a:rPr lang="en-US" altLang="zh-CN" sz="2400" dirty="0">
                <a:latin typeface="+mn-ea"/>
                <a:ea typeface="+mn-ea"/>
              </a:rPr>
              <a:t>2.0</a:t>
            </a:r>
            <a:r>
              <a:rPr lang="zh-CN" altLang="en-US" sz="2400" dirty="0">
                <a:latin typeface="+mn-ea"/>
                <a:ea typeface="+mn-ea"/>
              </a:rPr>
              <a:t>开发进度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178F17D3-1EE3-A5AD-975A-E8FC69015752}"/>
              </a:ext>
            </a:extLst>
          </p:cNvPr>
          <p:cNvGrpSpPr/>
          <p:nvPr/>
        </p:nvGrpSpPr>
        <p:grpSpPr>
          <a:xfrm>
            <a:off x="1480769" y="3242168"/>
            <a:ext cx="3155952" cy="2766184"/>
            <a:chOff x="1424138" y="1698798"/>
            <a:chExt cx="4303105" cy="3914148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F47CB5F-A52F-91A3-1E53-FC0770FBCF77}"/>
                </a:ext>
              </a:extLst>
            </p:cNvPr>
            <p:cNvGrpSpPr/>
            <p:nvPr/>
          </p:nvGrpSpPr>
          <p:grpSpPr>
            <a:xfrm>
              <a:off x="1424138" y="1698798"/>
              <a:ext cx="3576016" cy="3752200"/>
              <a:chOff x="1855843" y="2112966"/>
              <a:chExt cx="3290834" cy="3134928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26E379A-B1EE-403A-89FE-FA4E1F3F350C}"/>
                  </a:ext>
                </a:extLst>
              </p:cNvPr>
              <p:cNvSpPr txBox="1"/>
              <p:nvPr/>
            </p:nvSpPr>
            <p:spPr>
              <a:xfrm>
                <a:off x="1855843" y="2170399"/>
                <a:ext cx="1814533" cy="25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dirty="0">
                    <a:solidFill>
                      <a:schemeClr val="bg1"/>
                    </a:solidFill>
                  </a:rPr>
                  <a:t>模可弹出，独立进程运行</a:t>
                </a:r>
              </a:p>
            </p:txBody>
          </p:sp>
          <p:sp>
            <p:nvSpPr>
              <p:cNvPr id="17" name="右大括号 16">
                <a:extLst>
                  <a:ext uri="{FF2B5EF4-FFF2-40B4-BE49-F238E27FC236}">
                    <a16:creationId xmlns:a16="http://schemas.microsoft.com/office/drawing/2014/main" id="{262B0365-0753-5F38-B734-EA9609E2B542}"/>
                  </a:ext>
                </a:extLst>
              </p:cNvPr>
              <p:cNvSpPr/>
              <p:nvPr/>
            </p:nvSpPr>
            <p:spPr>
              <a:xfrm rot="5400000">
                <a:off x="2601941" y="1808137"/>
                <a:ext cx="91566" cy="701223"/>
              </a:xfrm>
              <a:prstGeom prst="rightBrac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右大括号 17">
                <a:extLst>
                  <a:ext uri="{FF2B5EF4-FFF2-40B4-BE49-F238E27FC236}">
                    <a16:creationId xmlns:a16="http://schemas.microsoft.com/office/drawing/2014/main" id="{3081E0A0-B78F-92BA-54F6-14A0A2B28E78}"/>
                  </a:ext>
                </a:extLst>
              </p:cNvPr>
              <p:cNvSpPr/>
              <p:nvPr/>
            </p:nvSpPr>
            <p:spPr>
              <a:xfrm rot="16200000">
                <a:off x="4135439" y="4236656"/>
                <a:ext cx="96837" cy="1925639"/>
              </a:xfrm>
              <a:prstGeom prst="rightBrac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0AC2AE-A81A-C758-2827-B6B9CA3387EA}"/>
                  </a:ext>
                </a:extLst>
              </p:cNvPr>
              <p:cNvSpPr txBox="1"/>
              <p:nvPr/>
            </p:nvSpPr>
            <p:spPr>
              <a:xfrm>
                <a:off x="3309988" y="4942836"/>
                <a:ext cx="1759856" cy="25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dirty="0">
                    <a:solidFill>
                      <a:schemeClr val="bg1"/>
                    </a:solidFill>
                  </a:rPr>
                  <a:t>内容可后端配置，灵活展示</a:t>
                </a:r>
              </a:p>
            </p:txBody>
          </p:sp>
        </p:grpSp>
        <p:sp>
          <p:nvSpPr>
            <p:cNvPr id="22" name="右大括号 21">
              <a:extLst>
                <a:ext uri="{FF2B5EF4-FFF2-40B4-BE49-F238E27FC236}">
                  <a16:creationId xmlns:a16="http://schemas.microsoft.com/office/drawing/2014/main" id="{4547A2B6-DA62-572A-1312-6F6B693CC9FC}"/>
                </a:ext>
              </a:extLst>
            </p:cNvPr>
            <p:cNvSpPr/>
            <p:nvPr/>
          </p:nvSpPr>
          <p:spPr>
            <a:xfrm rot="10800000">
              <a:off x="5608861" y="1845129"/>
              <a:ext cx="118382" cy="3767817"/>
            </a:xfrm>
            <a:prstGeom prst="rightBrace">
              <a:avLst>
                <a:gd name="adj1" fmla="val 8333"/>
                <a:gd name="adj2" fmla="val 49675"/>
              </a:avLst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EDDA484-976F-7B83-8461-B5345873198A}"/>
                </a:ext>
              </a:extLst>
            </p:cNvPr>
            <p:cNvSpPr txBox="1"/>
            <p:nvPr/>
          </p:nvSpPr>
          <p:spPr>
            <a:xfrm>
              <a:off x="5272696" y="3153360"/>
              <a:ext cx="419650" cy="137445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800" dirty="0">
                  <a:solidFill>
                    <a:schemeClr val="bg1"/>
                  </a:solidFill>
                </a:rPr>
                <a:t>各模块可弹出展示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C04F1348-AAB5-4AFC-3619-BDBF07646978}"/>
              </a:ext>
            </a:extLst>
          </p:cNvPr>
          <p:cNvSpPr txBox="1"/>
          <p:nvPr/>
        </p:nvSpPr>
        <p:spPr>
          <a:xfrm>
            <a:off x="202782" y="758099"/>
            <a:ext cx="11906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8782"/>
            <a:r>
              <a:rPr lang="en-US" altLang="zh-CN" sz="1800" dirty="0">
                <a:solidFill>
                  <a:prstClr val="black"/>
                </a:solidFill>
                <a:ea typeface="微软雅黑"/>
              </a:rPr>
              <a:t>    </a:t>
            </a:r>
            <a:endParaRPr lang="zh-CN" altLang="en-US" sz="1800" dirty="0">
              <a:solidFill>
                <a:prstClr val="black"/>
              </a:solidFill>
              <a:ea typeface="微软雅黑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5A49F4-644C-D837-AD3A-E02BE6A09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22" y="849648"/>
            <a:ext cx="5768356" cy="5912151"/>
          </a:xfrm>
          <a:prstGeom prst="rect">
            <a:avLst/>
          </a:prstGeom>
        </p:spPr>
      </p:pic>
      <p:sp>
        <p:nvSpPr>
          <p:cNvPr id="8" name="标题 2">
            <a:extLst>
              <a:ext uri="{FF2B5EF4-FFF2-40B4-BE49-F238E27FC236}">
                <a16:creationId xmlns:a16="http://schemas.microsoft.com/office/drawing/2014/main" id="{D02F6A5D-9937-5ABE-FD46-65DC3124861A}"/>
              </a:ext>
            </a:extLst>
          </p:cNvPr>
          <p:cNvSpPr>
            <a:spLocks noGrp="1"/>
          </p:cNvSpPr>
          <p:nvPr/>
        </p:nvSpPr>
        <p:spPr>
          <a:xfrm>
            <a:off x="144020" y="213510"/>
            <a:ext cx="8626436" cy="4780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defTabSz="914126"/>
            <a:r>
              <a:rPr lang="zh-CN" altLang="en-US" sz="2400" dirty="0">
                <a:latin typeface="+mn-ea"/>
                <a:ea typeface="+mn-ea"/>
              </a:rPr>
              <a:t>客户端</a:t>
            </a:r>
            <a:r>
              <a:rPr lang="en-US" altLang="zh-CN" sz="2400" dirty="0">
                <a:latin typeface="+mn-ea"/>
                <a:ea typeface="+mn-ea"/>
              </a:rPr>
              <a:t>2.0</a:t>
            </a:r>
            <a:r>
              <a:rPr lang="zh-CN" altLang="en-US" sz="2400" dirty="0">
                <a:latin typeface="+mn-ea"/>
                <a:ea typeface="+mn-ea"/>
              </a:rPr>
              <a:t>开发进度</a:t>
            </a:r>
          </a:p>
        </p:txBody>
      </p:sp>
    </p:spTree>
    <p:extLst>
      <p:ext uri="{BB962C8B-B14F-4D97-AF65-F5344CB8AC3E}">
        <p14:creationId xmlns:p14="http://schemas.microsoft.com/office/powerpoint/2010/main" val="206842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CD67144-15CA-35B6-F84B-40985A4AB3BA}"/>
              </a:ext>
            </a:extLst>
          </p:cNvPr>
          <p:cNvSpPr/>
          <p:nvPr/>
        </p:nvSpPr>
        <p:spPr>
          <a:xfrm>
            <a:off x="951" y="0"/>
            <a:ext cx="4009008" cy="6859588"/>
          </a:xfrm>
          <a:prstGeom prst="rect">
            <a:avLst/>
          </a:prstGeom>
          <a:solidFill>
            <a:srgbClr val="0049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4" rIns="91410" bIns="45704" rtlCol="0" anchor="ctr"/>
          <a:lstStyle/>
          <a:p>
            <a:pPr algn="ctr" defTabSz="1219200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CAADEDEF-BD21-DCC4-F236-5652009CB40E}"/>
              </a:ext>
            </a:extLst>
          </p:cNvPr>
          <p:cNvSpPr txBox="1"/>
          <p:nvPr/>
        </p:nvSpPr>
        <p:spPr>
          <a:xfrm>
            <a:off x="962871" y="3777444"/>
            <a:ext cx="2375576" cy="58487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en-US" altLang="zh-CN" sz="3200" dirty="0">
                <a:solidFill>
                  <a:prstClr val="white"/>
                </a:solidFill>
                <a:latin typeface="Agency FB" panose="020B0503020202020204" pitchFamily="34" charset="0"/>
                <a:ea typeface="Adobe 宋体 Std L" panose="02020300000000000000" pitchFamily="18" charset="-122"/>
              </a:rPr>
              <a:t>Contents </a:t>
            </a:r>
            <a:endParaRPr lang="zh-CN" altLang="en-US" sz="3200" dirty="0">
              <a:solidFill>
                <a:prstClr val="white"/>
              </a:solidFill>
              <a:latin typeface="Agency FB" panose="020B0503020202020204" pitchFamily="34" charset="0"/>
              <a:ea typeface="Adobe 宋体 Std L" panose="02020300000000000000" pitchFamily="18" charset="-122"/>
            </a:endParaRPr>
          </a:p>
        </p:txBody>
      </p:sp>
      <p:sp>
        <p:nvSpPr>
          <p:cNvPr id="4" name="文本框 52">
            <a:extLst>
              <a:ext uri="{FF2B5EF4-FFF2-40B4-BE49-F238E27FC236}">
                <a16:creationId xmlns:a16="http://schemas.microsoft.com/office/drawing/2014/main" id="{438CD029-CBEC-32C7-9F68-BC7AAC1676C7}"/>
              </a:ext>
            </a:extLst>
          </p:cNvPr>
          <p:cNvSpPr txBox="1"/>
          <p:nvPr/>
        </p:nvSpPr>
        <p:spPr>
          <a:xfrm>
            <a:off x="1068378" y="2363903"/>
            <a:ext cx="2375576" cy="851611"/>
          </a:xfrm>
          <a:prstGeom prst="rect">
            <a:avLst/>
          </a:prstGeom>
          <a:noFill/>
        </p:spPr>
        <p:txBody>
          <a:bodyPr wrap="square" lIns="91410" tIns="45704" rIns="91410" bIns="45704" rtlCol="0">
            <a:spAutoFit/>
          </a:bodyPr>
          <a:lstStyle/>
          <a:p>
            <a:pPr algn="ctr" defTabSz="1219200"/>
            <a:r>
              <a:rPr lang="zh-CN" altLang="en-US" sz="4935" b="1" dirty="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rPr>
              <a:t>目录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6B5D381-8224-902B-80BA-CC70F5616FE2}"/>
              </a:ext>
            </a:extLst>
          </p:cNvPr>
          <p:cNvSpPr txBox="1"/>
          <p:nvPr/>
        </p:nvSpPr>
        <p:spPr>
          <a:xfrm>
            <a:off x="5969635" y="40427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04    </a:t>
            </a:r>
            <a:r>
              <a:rPr lang="zh-CN" altLang="en-US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下一步工作展望与计划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0E654E9-F736-08A0-1654-37C1542FE014}"/>
              </a:ext>
            </a:extLst>
          </p:cNvPr>
          <p:cNvSpPr txBox="1"/>
          <p:nvPr/>
        </p:nvSpPr>
        <p:spPr>
          <a:xfrm>
            <a:off x="5969635" y="1680845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01  </a:t>
            </a:r>
            <a:r>
              <a:rPr lang="en-US" altLang="zh-CN" sz="3200" dirty="0">
                <a:solidFill>
                  <a:srgbClr val="FF0000"/>
                </a:solidFill>
                <a:latin typeface="Impact" panose="020B0806030902050204" pitchFamily="34" charset="0"/>
                <a:ea typeface="微软雅黑" panose="020B0503020204020204" charset="-122"/>
              </a:rPr>
              <a:t>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1.0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框架介绍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282BC4C4-27D0-1D05-6B35-8DF332C47513}"/>
              </a:ext>
            </a:extLst>
          </p:cNvPr>
          <p:cNvSpPr txBox="1"/>
          <p:nvPr/>
        </p:nvSpPr>
        <p:spPr>
          <a:xfrm>
            <a:off x="5969635" y="24679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02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2.0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框架介绍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5645EFF-9BC1-C874-612D-0E6EA1B373EF}"/>
              </a:ext>
            </a:extLst>
          </p:cNvPr>
          <p:cNvSpPr txBox="1"/>
          <p:nvPr/>
        </p:nvSpPr>
        <p:spPr>
          <a:xfrm>
            <a:off x="5969635" y="3255328"/>
            <a:ext cx="5262245" cy="49212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defTabSz="1219200"/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03    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客户端</a:t>
            </a:r>
            <a:r>
              <a:rPr lang="en-US" altLang="zh-CN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2.0</a:t>
            </a:r>
            <a:r>
              <a:rPr lang="zh-CN" altLang="en-US" sz="3200" dirty="0">
                <a:solidFill>
                  <a:prstClr val="black">
                    <a:lumMod val="85000"/>
                    <a:lumOff val="15000"/>
                  </a:prstClr>
                </a:solidFill>
                <a:latin typeface="Impact" panose="020B0806030902050204" pitchFamily="34" charset="0"/>
                <a:ea typeface="微软雅黑" panose="020B0503020204020204" charset="-122"/>
              </a:rPr>
              <a:t>开发进度</a:t>
            </a:r>
          </a:p>
        </p:txBody>
      </p:sp>
    </p:spTree>
    <p:extLst>
      <p:ext uri="{BB962C8B-B14F-4D97-AF65-F5344CB8AC3E}">
        <p14:creationId xmlns:p14="http://schemas.microsoft.com/office/powerpoint/2010/main" val="2755869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/>
        </p:nvSpPr>
        <p:spPr>
          <a:xfrm>
            <a:off x="240244" y="258089"/>
            <a:ext cx="8626436" cy="4780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C00000"/>
                </a:solidFill>
                <a:latin typeface="+mj-lt"/>
                <a:ea typeface="微软雅黑" panose="020B0503020204020204" charset="-122"/>
                <a:cs typeface="+mj-cs"/>
              </a:defRPr>
            </a:lvl1pPr>
          </a:lstStyle>
          <a:p>
            <a:pPr defTabSz="914126"/>
            <a:r>
              <a:rPr lang="zh-CN" altLang="en-US" sz="2400" dirty="0"/>
              <a:t>下一步工作展望与计划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7B8D52-8FE0-4EDA-4BD2-A5249B70CD82}"/>
              </a:ext>
            </a:extLst>
          </p:cNvPr>
          <p:cNvSpPr/>
          <p:nvPr/>
        </p:nvSpPr>
        <p:spPr>
          <a:xfrm>
            <a:off x="453257" y="1196909"/>
            <a:ext cx="9732010" cy="800333"/>
          </a:xfrm>
          <a:prstGeom prst="rect">
            <a:avLst/>
          </a:prstGeom>
          <a:solidFill>
            <a:schemeClr val="bg2">
              <a:lumMod val="9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5900">
              <a:lnSpc>
                <a:spcPct val="15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、优化与丰富界面编辑功能，深究用户使用习惯，提高编辑功能的实用性。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A40269-4D66-BD24-1C83-16E4D02EC582}"/>
              </a:ext>
            </a:extLst>
          </p:cNvPr>
          <p:cNvSpPr/>
          <p:nvPr/>
        </p:nvSpPr>
        <p:spPr>
          <a:xfrm>
            <a:off x="453257" y="2203551"/>
            <a:ext cx="9732010" cy="800333"/>
          </a:xfrm>
          <a:prstGeom prst="rect">
            <a:avLst/>
          </a:prstGeom>
          <a:solidFill>
            <a:schemeClr val="bg2">
              <a:lumMod val="9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5900">
              <a:lnSpc>
                <a:spcPct val="15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、框架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2.0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在新项目中的实践应用，根据项目需求，不断优化框架功能。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5E0CB5-0F8C-15C8-1C37-4351224889AC}"/>
              </a:ext>
            </a:extLst>
          </p:cNvPr>
          <p:cNvSpPr/>
          <p:nvPr/>
        </p:nvSpPr>
        <p:spPr>
          <a:xfrm>
            <a:off x="453257" y="4182511"/>
            <a:ext cx="9732010" cy="800333"/>
          </a:xfrm>
          <a:prstGeom prst="rect">
            <a:avLst/>
          </a:prstGeom>
          <a:solidFill>
            <a:schemeClr val="bg2">
              <a:lumMod val="9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5900">
              <a:lnSpc>
                <a:spcPct val="15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、进一步规范客户端代码开发，便于日常的技术更新与版本升级。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A72DA5-EF97-D9A4-3964-E53BB74A3E89}"/>
              </a:ext>
            </a:extLst>
          </p:cNvPr>
          <p:cNvSpPr/>
          <p:nvPr/>
        </p:nvSpPr>
        <p:spPr>
          <a:xfrm>
            <a:off x="453257" y="3193031"/>
            <a:ext cx="9732010" cy="800333"/>
          </a:xfrm>
          <a:prstGeom prst="rect">
            <a:avLst/>
          </a:prstGeom>
          <a:solidFill>
            <a:schemeClr val="bg2">
              <a:lumMod val="9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5900">
              <a:lnSpc>
                <a:spcPct val="15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、丰富客户端日常管理工具，便于运维人员与用户的日常使用。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9397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638405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i2pmhbd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1204</Words>
  <Application>Microsoft Office PowerPoint</Application>
  <PresentationFormat>宽屏</PresentationFormat>
  <Paragraphs>123</Paragraphs>
  <Slides>15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等线</vt:lpstr>
      <vt:lpstr>楷体</vt:lpstr>
      <vt:lpstr>微软雅黑</vt:lpstr>
      <vt:lpstr>微软雅黑 Light</vt:lpstr>
      <vt:lpstr>Agency FB</vt:lpstr>
      <vt:lpstr>Arial</vt:lpstr>
      <vt:lpstr>Calibri</vt:lpstr>
      <vt:lpstr>Impact</vt:lpstr>
      <vt:lpstr>Wingdings</vt:lpstr>
      <vt:lpstr>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文超</dc:creator>
  <cp:lastModifiedBy>文超</cp:lastModifiedBy>
  <cp:revision>16</cp:revision>
  <dcterms:created xsi:type="dcterms:W3CDTF">2023-08-01T06:32:00Z</dcterms:created>
  <dcterms:modified xsi:type="dcterms:W3CDTF">2023-09-05T07:45:11Z</dcterms:modified>
</cp:coreProperties>
</file>