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11088508" r:id="rId2"/>
    <p:sldId id="258" r:id="rId3"/>
    <p:sldId id="11089936" r:id="rId4"/>
    <p:sldId id="11090068" r:id="rId5"/>
    <p:sldId id="11090071" r:id="rId6"/>
    <p:sldId id="11090069" r:id="rId7"/>
    <p:sldId id="11090072" r:id="rId8"/>
    <p:sldId id="11090073" r:id="rId9"/>
    <p:sldId id="11090064" r:id="rId10"/>
    <p:sldId id="11090062" r:id="rId11"/>
    <p:sldId id="11090066" r:id="rId12"/>
    <p:sldId id="11090067" r:id="rId13"/>
    <p:sldId id="11090065" r:id="rId14"/>
    <p:sldId id="11090063" r:id="rId15"/>
    <p:sldId id="11090070" r:id="rId16"/>
    <p:sldId id="274" r:id="rId17"/>
  </p:sldIdLst>
  <p:sldSz cx="12195175" cy="6859588"/>
  <p:notesSz cx="9144000" cy="6858000"/>
  <p:custDataLst>
    <p:tags r:id="rId19"/>
  </p:custDataLst>
  <p:defaultTextStyle>
    <a:defPPr>
      <a:defRPr lang="en-US"/>
    </a:defPPr>
    <a:lvl1pPr marL="0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635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235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6089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首页" id="{AC6E93D8-B142-4DFE-9FF5-783965401EE2}">
          <p14:sldIdLst>
            <p14:sldId id="11088508"/>
            <p14:sldId id="258"/>
            <p14:sldId id="11089936"/>
            <p14:sldId id="11090068"/>
            <p14:sldId id="11090071"/>
            <p14:sldId id="11090069"/>
            <p14:sldId id="11090072"/>
            <p14:sldId id="11090073"/>
            <p14:sldId id="11090064"/>
            <p14:sldId id="11090062"/>
            <p14:sldId id="11090066"/>
            <p14:sldId id="11090067"/>
            <p14:sldId id="11090065"/>
            <p14:sldId id="11090063"/>
            <p14:sldId id="11090070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01" userDrawn="1">
          <p15:clr>
            <a:srgbClr val="A4A3A4"/>
          </p15:clr>
        </p15:guide>
        <p15:guide id="2" pos="39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hy" initials="w" lastIdx="3" clrIdx="0"/>
  <p:cmAuthor id="7" name="肖 豪" initials="肖" lastIdx="1" clrIdx="6"/>
  <p:cmAuthor id="1" name="cwt8909@163.com" initials="c" lastIdx="8" clrIdx="1"/>
  <p:cmAuthor id="8" name="刘恒" initials="LH" lastIdx="1" clrIdx="7"/>
  <p:cmAuthor id="2" name="王慧颖" initials="why" lastIdx="2" clrIdx="2"/>
  <p:cmAuthor id="3" name="HQR" initials="H" lastIdx="2" clrIdx="3"/>
  <p:cmAuthor id="4" name="wong huiying" initials="wh" lastIdx="1" clrIdx="4"/>
  <p:cmAuthor id="5" name="XiJiaYi" initials="X" lastIdx="2" clrIdx="5"/>
  <p:cmAuthor id="6" name="陈舒婕" initials="a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FFFF"/>
    <a:srgbClr val="CFD5EA"/>
    <a:srgbClr val="9196A4"/>
    <a:srgbClr val="004997"/>
    <a:srgbClr val="EF5A51"/>
    <a:srgbClr val="113477"/>
    <a:srgbClr val="EF4909"/>
    <a:srgbClr val="1B6AA3"/>
    <a:srgbClr val="E770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86233" autoAdjust="0"/>
  </p:normalViewPr>
  <p:slideViewPr>
    <p:cSldViewPr snapToGrid="0" snapToObjects="1" showGuides="1">
      <p:cViewPr varScale="1">
        <p:scale>
          <a:sx n="83" d="100"/>
          <a:sy n="83" d="100"/>
        </p:scale>
        <p:origin x="835" y="67"/>
      </p:cViewPr>
      <p:guideLst>
        <p:guide orient="horz" pos="2301"/>
        <p:guide pos="395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DC06F-3BB4-4819-A37E-C328AF70C3E4}" type="datetimeFigureOut">
              <a:rPr lang="zh-CN" altLang="en-US" smtClean="0"/>
              <a:t>2023/4/22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34D85-009C-44E1-BB2B-141541C97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63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23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92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-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 佳都LOGO-白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7547" y="229288"/>
            <a:ext cx="1288629" cy="3095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Administrator/AppData/Local/Temp/picturecompress_20211111171154/output_1.pn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8"/>
            <a:ext cx="12195175" cy="685768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7A351-0783-4196-B962-261C87CC0C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722" y="0"/>
            <a:ext cx="12191734" cy="68595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G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864" y="230944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zh-CN" altLang="en-US" sz="2800" b="1" kern="12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50581" y="6574939"/>
            <a:ext cx="785998" cy="2770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lvl="0"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fld id="{98A0E10D-DB2D-4E76-9BD5-321CBA48C453}" type="slidenum">
              <a:rPr lang="zh-CN" altLang="en-US" sz="120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丁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863" y="23094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50579" y="6528747"/>
            <a:ext cx="457295" cy="338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98A0E10D-DB2D-4E76-9BD5-321CBA48C453}" type="slidenum">
              <a:rPr lang="zh-CN" altLang="en-US" sz="1600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82454" y="899832"/>
            <a:ext cx="526912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18" hidden="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13311" y="5916860"/>
            <a:ext cx="1752489" cy="10502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组合 15" hidden="1"/>
          <p:cNvGrpSpPr/>
          <p:nvPr userDrawn="1"/>
        </p:nvGrpSpPr>
        <p:grpSpPr bwMode="auto">
          <a:xfrm>
            <a:off x="1075355" y="6234463"/>
            <a:ext cx="4983589" cy="1088931"/>
            <a:chOff x="3453734" y="15199569"/>
            <a:chExt cx="4709400" cy="1028517"/>
          </a:xfrm>
        </p:grpSpPr>
        <p:sp>
          <p:nvSpPr>
            <p:cNvPr id="1048811" name="标题 1"/>
            <p:cNvSpPr txBox="1"/>
            <p:nvPr/>
          </p:nvSpPr>
          <p:spPr bwMode="auto">
            <a:xfrm>
              <a:off x="3453734" y="15199569"/>
              <a:ext cx="2710367" cy="98724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70000"/>
                </a:lnSpc>
              </a:pPr>
              <a:r>
                <a:rPr lang="zh-CN" altLang="en-US" sz="1585" b="1" dirty="0">
                  <a:solidFill>
                    <a:srgbClr val="262626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可视化解决方案专家</a:t>
              </a:r>
              <a:endParaRPr lang="en-US" altLang="zh-CN" sz="1585" b="1" dirty="0">
                <a:solidFill>
                  <a:srgbClr val="262626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eaLnBrk="1" hangingPunct="1">
                <a:lnSpc>
                  <a:spcPct val="170000"/>
                </a:lnSpc>
              </a:pPr>
              <a:endParaRPr lang="en-US" altLang="zh-CN" sz="1585" b="1" dirty="0">
                <a:solidFill>
                  <a:srgbClr val="262626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8812" name="标题 1"/>
            <p:cNvSpPr txBox="1"/>
            <p:nvPr/>
          </p:nvSpPr>
          <p:spPr bwMode="auto">
            <a:xfrm>
              <a:off x="5276523" y="15240837"/>
              <a:ext cx="2886611" cy="98724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70000"/>
                </a:lnSpc>
              </a:pPr>
              <a:r>
                <a:rPr lang="zh-CN" altLang="en-US" sz="11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股份代码：</a:t>
              </a:r>
              <a:r>
                <a:rPr lang="en-US" altLang="zh-CN" sz="11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002308  </a:t>
              </a:r>
              <a:r>
                <a:rPr lang="en-US" altLang="zh-CN" sz="12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www.vtron.com</a:t>
              </a: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11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</a:p>
            <a:p>
              <a:pPr eaLnBrk="1" hangingPunct="1">
                <a:lnSpc>
                  <a:spcPct val="170000"/>
                </a:lnSpc>
              </a:pPr>
              <a:endParaRPr lang="en-US" altLang="zh-CN" sz="116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8813" name="文本框 1"/>
          <p:cNvSpPr txBox="1"/>
          <p:nvPr userDrawn="1"/>
        </p:nvSpPr>
        <p:spPr>
          <a:xfrm>
            <a:off x="11477016" y="6503906"/>
            <a:ext cx="623309" cy="256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No.</a:t>
            </a:r>
            <a:fld id="{DC950FDE-D928-4010-A2DE-2B6E8842C07D}" type="slidenum">
              <a:rPr lang="en-US" altLang="zh-CN" sz="106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altLang="zh-CN" sz="106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8814" name="标题 11"/>
          <p:cNvSpPr>
            <a:spLocks noGrp="1"/>
          </p:cNvSpPr>
          <p:nvPr>
            <p:ph type="title"/>
          </p:nvPr>
        </p:nvSpPr>
        <p:spPr>
          <a:xfrm>
            <a:off x="508864" y="230944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F0E7B-F686-455A-8744-F759A71D29AA}" type="datetimeFigureOut">
              <a:rPr lang="zh-CN" altLang="en-US" smtClean="0"/>
              <a:t>2023/4/22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5BCB-6D1A-42FD-85CF-33715F79E1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丁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863" y="23094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50579" y="6528747"/>
            <a:ext cx="457295" cy="338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98A0E10D-DB2D-4E76-9BD5-321CBA48C453}" type="slidenum">
              <a:rPr lang="zh-CN" altLang="en-US" sz="1600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82454" y="899832"/>
            <a:ext cx="526912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6840" y="77249"/>
            <a:ext cx="10975658" cy="6088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A4C77-7A59-4C6C-8766-E9E4214F683E}" type="datetimeFigureOut">
              <a:rPr lang="zh-CN" altLang="en-US"/>
              <a:t>2023/4/22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FAEB5-674B-4CD5-BE3D-04409D50C95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6840" y="77249"/>
            <a:ext cx="10975658" cy="6088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759" y="2061052"/>
            <a:ext cx="10975658" cy="40331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759" y="6246671"/>
            <a:ext cx="2845541" cy="4763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685" y="6246671"/>
            <a:ext cx="3861805" cy="4763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9875" y="6246671"/>
            <a:ext cx="2845541" cy="4763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57A911F-8C96-4595-B42A-9DC1305D60F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8893" y="87282"/>
            <a:ext cx="10244930" cy="60889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010274" y="6528727"/>
            <a:ext cx="1303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+mn-ea"/>
                <a:ea typeface="+mn-ea"/>
              </a:rPr>
              <a:t>第</a:t>
            </a:r>
            <a:fld id="{EF814AF2-3DAA-49C9-8CBA-73733764BB18}" type="slidenum">
              <a:rPr lang="zh-CN" altLang="en-US" sz="1400" smtClean="0">
                <a:latin typeface="+mn-ea"/>
                <a:ea typeface="+mn-ea"/>
              </a:rPr>
              <a:t>‹#›</a:t>
            </a:fld>
            <a:r>
              <a:rPr lang="zh-CN" altLang="en-US" sz="1400" dirty="0">
                <a:latin typeface="+mn-ea"/>
                <a:ea typeface="+mn-ea"/>
              </a:rPr>
              <a:t>页</a:t>
            </a:r>
            <a:r>
              <a:rPr lang="en-US" altLang="zh-CN" sz="1400" dirty="0">
                <a:latin typeface="+mn-ea"/>
                <a:ea typeface="+mn-ea"/>
              </a:rPr>
              <a:t>/ 24</a:t>
            </a:r>
            <a:r>
              <a:rPr lang="zh-CN" altLang="en-US" sz="1400" dirty="0">
                <a:latin typeface="+mn-ea"/>
                <a:ea typeface="+mn-ea"/>
              </a:rPr>
              <a:t>页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862" y="230932"/>
            <a:ext cx="10217112" cy="4781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82450" y="735376"/>
            <a:ext cx="526912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9809512" y="6544892"/>
            <a:ext cx="575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1200" i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第</a:t>
            </a:r>
            <a:fld id="{FCACE164-B1A3-47F8-8BCC-096FEB46433A}" type="slidenum">
              <a:rPr lang="zh-CN" altLang="en-US" sz="1200" i="1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‹#›</a:t>
            </a:fld>
            <a:r>
              <a:rPr lang="zh-CN" altLang="en-US" sz="1200" i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页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03B4-5A97-4F86-A344-9AB07F481C60}" type="datetime1">
              <a:rPr lang="zh-CN" altLang="en-US" smtClean="0"/>
              <a:t>2023/4/22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6597" y="272034"/>
            <a:ext cx="10217112" cy="629338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>
              <a:defRPr sz="2600" b="1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582451" y="899791"/>
            <a:ext cx="52691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1 佳都LOGO-橙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9936" y="163860"/>
            <a:ext cx="2241499" cy="6821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5C33-2320-4DA7-903C-BA21E1744910}" type="datetime1">
              <a:rPr lang="zh-CN" altLang="en-US" smtClean="0"/>
              <a:t>2023/4/22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1 佳都LOGO-橙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9936" y="163860"/>
            <a:ext cx="2241499" cy="68211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420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914400"/>
            <a:fld id="{F573C6FA-291E-4093-972C-67BB8AC6CC5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2023/4/22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653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91440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844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914400"/>
            <a:fld id="{9A23B325-0F9F-4468-8B7C-6B272E81E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80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833884" y="2107235"/>
            <a:ext cx="8527405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zh-CN" altLang="en-US" sz="427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华佳</a:t>
            </a:r>
            <a:r>
              <a:rPr lang="en-US" altLang="zh-CN" sz="427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Mos</a:t>
            </a:r>
            <a:r>
              <a:rPr lang="zh-CN" sz="427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与安检融合方案</a:t>
            </a:r>
          </a:p>
        </p:txBody>
      </p:sp>
      <p:sp>
        <p:nvSpPr>
          <p:cNvPr id="4" name="矩形 3"/>
          <p:cNvSpPr/>
          <p:nvPr/>
        </p:nvSpPr>
        <p:spPr>
          <a:xfrm>
            <a:off x="4389839" y="4913832"/>
            <a:ext cx="3415497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kumimoji="1" lang="en-US" altLang="zh-CN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r>
              <a:rPr kumimoji="1" lang="zh-CN" altLang="en-US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kumimoji="1" lang="en-US" altLang="zh-CN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kumimoji="1" lang="en-US" altLang="zh-CN" sz="1800" b="1" spc="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佳都科技集团30周年logo-20220726 - 加粗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864" y="321370"/>
            <a:ext cx="2957895" cy="470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/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/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界面融合</a:t>
            </a:r>
          </a:p>
        </p:txBody>
      </p:sp>
      <p:sp>
        <p:nvSpPr>
          <p:cNvPr id="8" name="TextBox 10"/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用户融合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数据融合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界面融合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35940" y="1092200"/>
            <a:ext cx="10923270" cy="807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界面融合直接采用界面集成方式，安检为华佳</a:t>
            </a:r>
            <a:r>
              <a:rPr lang="en-US" altLang="zh-CN"/>
              <a:t>Mos</a:t>
            </a:r>
            <a:r>
              <a:rPr lang="zh-CN" altLang="en-US"/>
              <a:t>定制页面，样式风格匹配华佳</a:t>
            </a:r>
            <a:r>
              <a:rPr lang="en-US" altLang="zh-CN"/>
              <a:t>Mos</a:t>
            </a:r>
            <a:r>
              <a:rPr lang="zh-CN" altLang="en-US"/>
              <a:t>样式风格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61340" y="2147570"/>
            <a:ext cx="10639425" cy="318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    </a:t>
            </a:r>
            <a:r>
              <a:rPr lang="zh-CN" altLang="en-US"/>
              <a:t>安检提供访问地址，华佳</a:t>
            </a:r>
            <a:r>
              <a:rPr lang="en-US" altLang="zh-CN"/>
              <a:t>Mos</a:t>
            </a:r>
            <a:r>
              <a:rPr lang="zh-CN" altLang="en-US"/>
              <a:t>提供加载地址的容器</a:t>
            </a:r>
          </a:p>
          <a:p>
            <a:r>
              <a:rPr lang="en-US" altLang="zh-CN"/>
              <a:t>    </a:t>
            </a:r>
            <a:r>
              <a:rPr lang="zh-CN" altLang="en-US"/>
              <a:t>安检提供的地址采用页面自适应效果，无论容</a:t>
            </a:r>
            <a:r>
              <a:rPr lang="en-US" altLang="zh-CN"/>
              <a:t> </a:t>
            </a:r>
            <a:r>
              <a:rPr lang="zh-CN" altLang="en-US"/>
              <a:t>器大小都能充满容器，防止空白现象</a:t>
            </a:r>
          </a:p>
          <a:p>
            <a:r>
              <a:rPr lang="en-US" altLang="zh-CN"/>
              <a:t>     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界面融合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31091" y="294501"/>
            <a:ext cx="445123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dirty="0"/>
              <a:t>线路安检集成效果图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0BA312-EA5A-A9A0-5A92-BFB6E660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7" y="944419"/>
            <a:ext cx="11622520" cy="5811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界面融合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31091" y="294501"/>
            <a:ext cx="640934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dirty="0"/>
              <a:t>线路安检集成效果</a:t>
            </a:r>
            <a:r>
              <a:rPr lang="zh-CN" altLang="en-US" dirty="0"/>
              <a:t>：报警弹窗样式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A04514-B8BE-042E-0496-D6F48D1BB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7" y="852663"/>
            <a:ext cx="10512527" cy="589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3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界面融合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9155" y="297602"/>
            <a:ext cx="5573972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dirty="0"/>
              <a:t>车站安检集成效果图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r>
              <a:rPr lang="zh-CN" altLang="en-US" dirty="0"/>
              <a:t>个安检点场景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DF6F19-C1B5-9E21-AE10-5DD1BF280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17" y="893618"/>
            <a:ext cx="11576339" cy="5788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界面融合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9155" y="297602"/>
            <a:ext cx="5518554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dirty="0"/>
              <a:t>车站安检集成效果图</a:t>
            </a:r>
            <a:r>
              <a:rPr lang="zh-CN" altLang="en-US" dirty="0"/>
              <a:t>：</a:t>
            </a:r>
            <a:r>
              <a:rPr lang="en-US" altLang="zh-CN" dirty="0"/>
              <a:t>3</a:t>
            </a:r>
            <a:r>
              <a:rPr lang="zh-CN" altLang="en-US" dirty="0"/>
              <a:t>个安检点场景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67C6E4-5FB3-6DAB-9124-C63879BF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3" y="775741"/>
            <a:ext cx="11908848" cy="59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9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界面融合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9155" y="297602"/>
            <a:ext cx="5610918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dirty="0"/>
              <a:t>车站安检集成效果图</a:t>
            </a:r>
            <a:r>
              <a:rPr lang="zh-CN" altLang="en-US" dirty="0"/>
              <a:t>：</a:t>
            </a:r>
            <a:r>
              <a:rPr lang="en-US" altLang="zh-CN" dirty="0"/>
              <a:t>4</a:t>
            </a:r>
            <a:r>
              <a:rPr lang="zh-CN" altLang="en-US" dirty="0"/>
              <a:t>个安检点场景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3A65EB-591E-CF29-D3B6-61FE8232E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3" y="775741"/>
            <a:ext cx="11908848" cy="59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0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/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/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</a:t>
            </a:r>
            <a:r>
              <a:rPr lang="zh-CN" altLang="en-US" sz="32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界面融合</a:t>
            </a:r>
          </a:p>
        </p:txBody>
      </p:sp>
      <p:sp>
        <p:nvSpPr>
          <p:cNvPr id="8" name="TextBox 10"/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用户融合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数据融合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用户融合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5940" y="1092200"/>
            <a:ext cx="10923270" cy="807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      </a:t>
            </a:r>
            <a:r>
              <a:rPr lang="zh-CN" altLang="en-US"/>
              <a:t>华佳</a:t>
            </a:r>
            <a:r>
              <a:rPr lang="en-US" altLang="zh-CN"/>
              <a:t>Mos</a:t>
            </a:r>
            <a:r>
              <a:rPr lang="zh-CN" altLang="en-US"/>
              <a:t>与安检系统存在两套用户权限体系，如何融合，存在一个整合的问题？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92455" y="2008505"/>
            <a:ext cx="5453380" cy="52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      </a:t>
            </a:r>
            <a:r>
              <a:rPr lang="zh-CN" altLang="en-US">
                <a:solidFill>
                  <a:srgbClr val="FF0000"/>
                </a:solidFill>
              </a:rPr>
              <a:t>账户绑定、自动登录的策略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3620" y="2707640"/>
            <a:ext cx="7788275" cy="38379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949690" y="3659505"/>
            <a:ext cx="2510155" cy="589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账户绑定时序图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用户融合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685020" y="2725420"/>
            <a:ext cx="2510155" cy="589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自动登录时序图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8595" y="1586230"/>
            <a:ext cx="929195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用户融合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424035" y="2725420"/>
            <a:ext cx="2510155" cy="589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安检系统更改密码时序图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2925" y="1343660"/>
            <a:ext cx="8305800" cy="4502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/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/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</a:t>
            </a:r>
            <a:r>
              <a:rPr lang="zh-CN" altLang="en-US" sz="32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界面融合</a:t>
            </a:r>
          </a:p>
        </p:txBody>
      </p:sp>
      <p:sp>
        <p:nvSpPr>
          <p:cNvPr id="8" name="TextBox 10"/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用户融合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数据融合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数据融合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5940" y="1092200"/>
            <a:ext cx="4469765" cy="473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安检实时数据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0400" y="1945005"/>
            <a:ext cx="10699750" cy="34359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129133" y="271583"/>
            <a:ext cx="8628682" cy="4781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  <a:latin typeface="Impact" panose="020B0806030902050204" pitchFamily="34" charset="0"/>
                <a:sym typeface="+mn-ea"/>
              </a:rPr>
              <a:t>数据融合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5940" y="1092200"/>
            <a:ext cx="4469765" cy="473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安检维表数据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58265" y="1943735"/>
            <a:ext cx="8724265" cy="36360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898" y="-1"/>
            <a:ext cx="12191381" cy="685958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e0678d4-4c7e-4aa6-a400-950c572e83f2"/>
  <p:tag name="COMMONDATA" val="eyJoZGlkIjoiZTlkOGNlNTYzNzRhY2M4MjgyMjEyODdiZjZjNzZlY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7190,&quot;width&quot;:1459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i2pmhbd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230</Words>
  <Application>Microsoft Office PowerPoint</Application>
  <PresentationFormat>自定义</PresentationFormat>
  <Paragraphs>50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楷体</vt:lpstr>
      <vt:lpstr>微软雅黑</vt:lpstr>
      <vt:lpstr>微软雅黑 Light</vt:lpstr>
      <vt:lpstr>Agency FB</vt:lpstr>
      <vt:lpstr>Arial</vt:lpstr>
      <vt:lpstr>Calibri</vt:lpstr>
      <vt:lpstr>Impact</vt:lpstr>
      <vt:lpstr>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之进 田</cp:lastModifiedBy>
  <cp:revision>3438</cp:revision>
  <dcterms:created xsi:type="dcterms:W3CDTF">2023-03-23T08:33:00Z</dcterms:created>
  <dcterms:modified xsi:type="dcterms:W3CDTF">2023-04-22T09:31:09Z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KSOProductBuildVer">
    <vt:lpwstr>2052-11.1.0.14036</vt:lpwstr>
  </property>
  <property fmtid="{D5CDD505-2E9C-101B-9397-08002B2CF9AE}" pid="4" name="ICV">
    <vt:lpwstr>EF7D5E144CC14E46ABAD497F6C9425DF_13</vt:lpwstr>
  </property>
</Properties>
</file>