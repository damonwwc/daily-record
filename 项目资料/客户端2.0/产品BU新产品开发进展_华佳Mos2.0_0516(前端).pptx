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4651" r:id="rId2"/>
    <p:sldId id="4718" r:id="rId3"/>
    <p:sldId id="4719" r:id="rId4"/>
    <p:sldId id="4727" r:id="rId5"/>
    <p:sldId id="4728" r:id="rId6"/>
    <p:sldId id="4736" r:id="rId7"/>
    <p:sldId id="4729" r:id="rId8"/>
    <p:sldId id="4730" r:id="rId9"/>
    <p:sldId id="4733" r:id="rId10"/>
    <p:sldId id="4731" r:id="rId11"/>
    <p:sldId id="4735" r:id="rId12"/>
    <p:sldId id="4734" r:id="rId13"/>
  </p:sldIdLst>
  <p:sldSz cx="9144000" cy="5143500" type="screen16x9"/>
  <p:notesSz cx="6797675" cy="9926638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0">
          <p15:clr>
            <a:srgbClr val="A4A3A4"/>
          </p15:clr>
        </p15:guide>
        <p15:guide id="2" pos="312">
          <p15:clr>
            <a:srgbClr val="A4A3A4"/>
          </p15:clr>
        </p15:guide>
        <p15:guide id="3" orient="horz" pos="3208">
          <p15:clr>
            <a:srgbClr val="A4A3A4"/>
          </p15:clr>
        </p15:guide>
        <p15:guide id="4" pos="2880">
          <p15:clr>
            <a:srgbClr val="A4A3A4"/>
          </p15:clr>
        </p15:guide>
        <p15:guide id="5" pos="569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hy" initials="w" lastIdx="3" clrIdx="0"/>
  <p:cmAuthor id="7" name="肖 豪" initials="肖" lastIdx="1" clrIdx="6"/>
  <p:cmAuthor id="1" name="廖 晓琴" initials="廖" lastIdx="1" clrIdx="0"/>
  <p:cmAuthor id="8" name="刘恒" initials="LH" lastIdx="1" clrIdx="7"/>
  <p:cmAuthor id="2" name="diyage" initials="d" lastIdx="2" clrIdx="1"/>
  <p:cmAuthor id="3" name="dbj66@sina.com" initials="d" lastIdx="1" clrIdx="2"/>
  <p:cmAuthor id="4" name="wong huiying" initials="wh" lastIdx="1" clrIdx="4"/>
  <p:cmAuthor id="5" name="XiJiaYi" initials="X" lastIdx="2" clrIdx="5"/>
  <p:cmAuthor id="6" name="陈舒婕" initials="a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27FB"/>
    <a:srgbClr val="E94709"/>
    <a:srgbClr val="EB5924"/>
    <a:srgbClr val="225889"/>
    <a:srgbClr val="595959"/>
    <a:srgbClr val="FABA86"/>
    <a:srgbClr val="DAE3F3"/>
    <a:srgbClr val="FFE699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6" autoAdjust="0"/>
    <p:restoredTop sz="78740" autoAdjust="0"/>
  </p:normalViewPr>
  <p:slideViewPr>
    <p:cSldViewPr snapToGrid="0" snapToObjects="1" showGuides="1">
      <p:cViewPr varScale="1">
        <p:scale>
          <a:sx n="172" d="100"/>
          <a:sy n="172" d="100"/>
        </p:scale>
        <p:origin x="1608" y="96"/>
      </p:cViewPr>
      <p:guideLst>
        <p:guide orient="horz" pos="1660"/>
        <p:guide pos="312"/>
        <p:guide orient="horz" pos="3208"/>
        <p:guide pos="2880"/>
        <p:guide pos="569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5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DC06F-3BB4-4819-A37E-C328AF70C3E4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34D85-009C-44E1-BB2B-141541C97A9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34D85-009C-44E1-BB2B-141541C97A9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4、华佳MOS：</a:t>
            </a:r>
          </a:p>
          <a:p>
            <a:r>
              <a:rPr lang="zh-CN" altLang="en-US" dirty="0"/>
              <a:t>华佳Mo应急指挥：6月10日前完成合同范围内剩余预案联动流程上线，满足调试要求；11月28日前完成华佳Mo应急指挥2.0研发；</a:t>
            </a:r>
          </a:p>
          <a:p>
            <a:r>
              <a:rPr lang="zh-CN" altLang="en-US" dirty="0"/>
              <a:t>华佳Mo大数据与智能算法：12月28日前完成轨交行业数据接入标准、数据治理标准制定，及业务赋能的数据模型及算法模型等研发，能满足NCC对数据统计和分析的要求；完成算法训练工具研发；</a:t>
            </a:r>
          </a:p>
          <a:p>
            <a:r>
              <a:rPr lang="zh-CN" altLang="en-US" dirty="0"/>
              <a:t>华佳Mos线网指挥：9月15日前完成华佳Mo客户端框架2.0研发；9月20日前完成基于数字物理平台的数字孪生应用模型研发，完成站台门、自动售检票、CCTV、PIS物模型接入，可支撑基于数字孪生模型场景化应用；</a:t>
            </a:r>
          </a:p>
          <a:p>
            <a:r>
              <a:rPr lang="zh-CN" altLang="en-US" dirty="0"/>
              <a:t>12月28日前完成南昌线网指挥框架功能研发；</a:t>
            </a:r>
          </a:p>
          <a:p>
            <a:r>
              <a:rPr lang="zh-CN" altLang="en-US" dirty="0"/>
              <a:t>关键产品国产化：9月25日前完成基于国产芯片服务器的兼容性测试；</a:t>
            </a:r>
          </a:p>
          <a:p>
            <a:r>
              <a:rPr lang="zh-CN" altLang="en-US" dirty="0"/>
              <a:t>5、智能运维平台：12月31日前完成智能运维平台 V2.0发布，主要功能包括多专业设备数据接入、算法模型调度、重点业务功能（远程巡检、安全卡控）；</a:t>
            </a:r>
          </a:p>
          <a:p>
            <a:r>
              <a:rPr lang="zh-CN" altLang="en-US" dirty="0"/>
              <a:t>智能运维算法数据接入：6月31日完成长沙6号线单站7. 站台门运行曲线数据接入；9月31日完成5-10座车站站台门运行曲线数据接入；12月31日完成全线34座车站曲线数据接入；</a:t>
            </a:r>
          </a:p>
          <a:p>
            <a:r>
              <a:rPr lang="zh-CN" altLang="en-US" dirty="0"/>
              <a:t>AFC智能运维算法数据接入：6月31日完成单站AFC智能运维算法数据接入方案；9月31日完成单站数据接入；12月31日完成5-10座车站数据接入；</a:t>
            </a:r>
          </a:p>
          <a:p>
            <a:r>
              <a:rPr lang="zh-CN" altLang="en-US" dirty="0"/>
              <a:t>站台门故障机理试验支撑：以新造车站样机或其他站台门样机为对象，进行站台门故障机理试验，支撑站台门智能运维方案深化；5月31日完成故障机理试验方案评审；6月31日完成第一阶段故障机理试验，并针对试验结果迭代站台门数据采集方案；根据第一阶段实验结果分别在Q3、Q4进行第二、三阶段试验；</a:t>
            </a:r>
          </a:p>
          <a:p>
            <a:r>
              <a:rPr lang="zh-CN" altLang="en-US" dirty="0"/>
              <a:t>AFC智能运维方案支撑：支撑AFC故障机理分析、全量数据盘点、常见运维业务痛点分析等工作，迭代优化AFC智能运维方案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目前，客户端框架</a:t>
            </a:r>
            <a:r>
              <a:rPr lang="en-US" altLang="zh-CN" sz="1200" dirty="0"/>
              <a:t>2.0</a:t>
            </a:r>
            <a:r>
              <a:rPr lang="zh-CN" altLang="en-US" sz="1200" dirty="0"/>
              <a:t>完成了客户端框架的基本搭建、</a:t>
            </a:r>
            <a:r>
              <a:rPr lang="en-US" altLang="zh-CN" sz="1200" dirty="0" err="1"/>
              <a:t>CefSharp</a:t>
            </a:r>
            <a:r>
              <a:rPr lang="zh-CN" altLang="en-US" sz="1200" dirty="0"/>
              <a:t>控件重构、页面路由方法设计与代码实现、页面跳转方法的部分代码实现。</a:t>
            </a:r>
            <a:endParaRPr lang="en-US" altLang="zh-CN" sz="1200" dirty="0"/>
          </a:p>
          <a:p>
            <a:r>
              <a:rPr lang="zh-CN" altLang="en-US" sz="1200" dirty="0"/>
              <a:t>接下来一个月计划完成业务应用框架设计以及进程间通讯、进程状态管理、以及数据持久化存储功能开发。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8B55B-2511-42A3-917F-FDE0D43FAB5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368540" y="219655"/>
            <a:ext cx="1530884" cy="3442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6260" y="372056"/>
            <a:ext cx="5402580" cy="34194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91" y="0"/>
            <a:ext cx="9141420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07917" y="95649"/>
            <a:ext cx="1531229" cy="344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91" y="0"/>
            <a:ext cx="914142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91" y="0"/>
            <a:ext cx="9141420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07917" y="95649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48156" y="1381575"/>
            <a:ext cx="6194559" cy="994172"/>
          </a:xfrm>
        </p:spPr>
        <p:txBody>
          <a:bodyPr>
            <a:normAutofit/>
          </a:bodyPr>
          <a:lstStyle>
            <a:lvl1pPr algn="l">
              <a:defRPr sz="15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371604" y="1671709"/>
            <a:ext cx="1876097" cy="7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4125" b="1" dirty="0">
                <a:solidFill>
                  <a:srgbClr val="E94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91" y="0"/>
            <a:ext cx="9141420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07917" y="95649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" y="1797551"/>
            <a:ext cx="9142711" cy="994172"/>
          </a:xfrm>
        </p:spPr>
        <p:txBody>
          <a:bodyPr/>
          <a:lstStyle>
            <a:lvl1pPr algn="ctr">
              <a:defRPr b="1">
                <a:solidFill>
                  <a:srgbClr val="E9470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538174" y="176328"/>
            <a:ext cx="1531229" cy="3443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538174" y="176328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52" y="123307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8" y="674718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260080" y="4836716"/>
            <a:ext cx="792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DE45FF45-7A4B-4076-8283-A409CD6CF6C6}" type="slidenum">
              <a:rPr lang="en-US" altLang="zh-CN" sz="1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91" y="0"/>
            <a:ext cx="914142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/>
          <a:srcRect l="-164"/>
          <a:stretch>
            <a:fillRect/>
          </a:stretch>
        </p:blipFill>
        <p:spPr>
          <a:xfrm>
            <a:off x="-13619" y="0"/>
            <a:ext cx="9157619" cy="51509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538170" y="176326"/>
            <a:ext cx="1531229" cy="34430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7" y="123306"/>
            <a:ext cx="7126367" cy="471916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436724" y="647010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8307399" y="4931710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900" dirty="0">
                <a:solidFill>
                  <a:prstClr val="black"/>
                </a:solidFill>
              </a:rPr>
              <a:t>第</a:t>
            </a:r>
            <a:r>
              <a:rPr lang="en-US" altLang="zh-CN" sz="900" dirty="0">
                <a:solidFill>
                  <a:prstClr val="black"/>
                </a:solidFill>
              </a:rPr>
              <a:t>  </a:t>
            </a:r>
            <a:fld id="{DE45FF45-7A4B-4076-8283-A409CD6CF6C6}" type="slidenum">
              <a:rPr lang="en-US" altLang="zh-CN" sz="900" dirty="0" smtClean="0">
                <a:solidFill>
                  <a:prstClr val="black"/>
                </a:solidFill>
              </a:rPr>
              <a:t>‹#›</a:t>
            </a:fld>
            <a:r>
              <a:rPr lang="en-US" altLang="zh-CN" sz="900" dirty="0">
                <a:solidFill>
                  <a:prstClr val="black"/>
                </a:solidFill>
              </a:rPr>
              <a:t>  </a:t>
            </a:r>
            <a:r>
              <a:rPr lang="zh-CN" altLang="en-US" sz="900" dirty="0">
                <a:solidFill>
                  <a:prstClr val="black"/>
                </a:solidFill>
              </a:rPr>
              <a:t>页</a:t>
            </a:r>
          </a:p>
        </p:txBody>
      </p:sp>
      <p:sp>
        <p:nvSpPr>
          <p:cNvPr id="8" name="文本占位符 2"/>
          <p:cNvSpPr>
            <a:spLocks noGrp="1"/>
          </p:cNvSpPr>
          <p:nvPr>
            <p:ph idx="1"/>
          </p:nvPr>
        </p:nvSpPr>
        <p:spPr>
          <a:xfrm>
            <a:off x="381547" y="821867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丁版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749" y="173175"/>
            <a:ext cx="6469827" cy="3585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0" y="4966215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457749" y="4962210"/>
            <a:ext cx="109728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内部文档，严禁外传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8060835" y="4962210"/>
            <a:ext cx="60198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fld id="{98A0E10D-DB2D-4E76-9BD5-321CBA48C453}" type="slidenum">
              <a:rPr lang="zh-CN" alt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57749" y="541567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 userDrawn="1"/>
        </p:nvSpPr>
        <p:spPr>
          <a:xfrm>
            <a:off x="4059469" y="4962210"/>
            <a:ext cx="113474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新产品研发进度汇报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796" y="124655"/>
            <a:ext cx="8760407" cy="471894"/>
          </a:xfrm>
        </p:spPr>
        <p:txBody>
          <a:bodyPr>
            <a:normAutofit/>
          </a:bodyPr>
          <a:lstStyle>
            <a:lvl1pPr>
              <a:defRPr sz="1650" b="1">
                <a:solidFill>
                  <a:srgbClr val="EC470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 rot="16200000">
            <a:off x="83796" y="360602"/>
            <a:ext cx="216000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8" y="173175"/>
            <a:ext cx="6469827" cy="3585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8060835" y="4895654"/>
            <a:ext cx="2781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36727" y="674749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丁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548" y="173175"/>
            <a:ext cx="6469827" cy="3585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8060835" y="4895654"/>
            <a:ext cx="27813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fld id="{98A0E10D-DB2D-4E76-9BD5-321CBA48C453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36727" y="674749"/>
            <a:ext cx="395081" cy="0"/>
          </a:xfrm>
          <a:prstGeom prst="line">
            <a:avLst/>
          </a:prstGeom>
          <a:ln w="38100">
            <a:solidFill>
              <a:srgbClr val="E947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1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fld id="{F573C6FA-291E-4093-972C-67BB8AC6CC5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2023/5/17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1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685800"/>
            <a:fld id="{9A23B325-0F9F-4468-8B7C-6B272E81E2C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10160" y="1678109"/>
            <a:ext cx="7948535" cy="1076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685800"/>
            <a:r>
              <a:rPr kumimoji="1" lang="zh-CN" altLang="en-US" sz="3200" b="1" spc="300" dirty="0">
                <a:solidFill>
                  <a:srgbClr val="E94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华佳</a:t>
            </a:r>
            <a:r>
              <a:rPr kumimoji="1" lang="en-US" altLang="zh-CN" sz="3200" b="1" spc="300" dirty="0">
                <a:solidFill>
                  <a:srgbClr val="E94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MosV2.0</a:t>
            </a:r>
          </a:p>
          <a:p>
            <a:pPr algn="ctr" defTabSz="685800"/>
            <a:r>
              <a:rPr kumimoji="1" lang="zh-CN" altLang="en-US" sz="3200" b="1" spc="300" dirty="0">
                <a:solidFill>
                  <a:srgbClr val="E9470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新产品研发进展</a:t>
            </a:r>
            <a:endParaRPr kumimoji="1" lang="en-US" altLang="zh-CN" sz="3200" b="1" spc="300" dirty="0">
              <a:solidFill>
                <a:srgbClr val="E9470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 -- </a:t>
            </a:r>
            <a:r>
              <a:rPr lang="zh-CN" altLang="en-US"/>
              <a:t>整体产品路线图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4766" y="459581"/>
          <a:ext cx="9036685" cy="46564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0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8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4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58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>
                          <a:latin typeface="微软雅黑" charset="0"/>
                          <a:ea typeface="微软雅黑" charset="0"/>
                        </a:rPr>
                        <a:t>中台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1">
                          <a:latin typeface="微软雅黑" charset="0"/>
                          <a:ea typeface="微软雅黑" charset="0"/>
                        </a:rPr>
                        <a:t>已具备能力</a:t>
                      </a:r>
                      <a:endParaRPr lang="en-US" altLang="zh-CN" sz="1050" b="1">
                        <a:latin typeface="微软雅黑" charset="0"/>
                        <a:ea typeface="微软雅黑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latin typeface="微软雅黑" charset="0"/>
                          <a:ea typeface="微软雅黑" charset="0"/>
                        </a:rPr>
                        <a:t>FY23Q1-Q2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latin typeface="微软雅黑" charset="0"/>
                          <a:ea typeface="微软雅黑" charset="0"/>
                        </a:rPr>
                        <a:t>FY23Q3-Q4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latin typeface="微软雅黑" charset="0"/>
                          <a:ea typeface="微软雅黑" charset="0"/>
                        </a:rPr>
                        <a:t>FY24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1">
                          <a:latin typeface="微软雅黑" charset="0"/>
                          <a:ea typeface="微软雅黑" charset="0"/>
                        </a:rPr>
                        <a:t>FY25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0">
                          <a:latin typeface="微软雅黑" charset="0"/>
                          <a:ea typeface="微软雅黑" charset="0"/>
                        </a:rPr>
                        <a:t>数据中台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、轨交行业数仓</a:t>
                      </a: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1.0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、平台能力：数据集成、数据开发、数据分析、数据服务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、元数据管理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、轨交行业数仓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2.0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（数据规范、数据资产梳理）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、乘客画像</a:t>
                      </a:r>
                      <a:endParaRPr lang="en-US" altLang="zh-CN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、线网指挥（辅助决策、运营评估）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3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、轨交行业数仓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2.0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客流、能耗、行车等多主题数据融合分析模型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MPP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替换关系型数据库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4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、时序数据库服务（基于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Hbase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方案与</a:t>
                      </a: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TDEngine</a:t>
                      </a: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方案的时序分析接口统一）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、数据处理及服务</a:t>
                      </a:r>
                      <a:endParaRPr lang="en-US" altLang="zh-CN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基于</a:t>
                      </a: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CEP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计算的事件处理</a:t>
                      </a:r>
                      <a:endParaRPr lang="en-US" altLang="zh-CN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基于线网</a:t>
                      </a: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OD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数据的路径回放以及断面客流指标（与研究院合作）</a:t>
                      </a:r>
                      <a:endParaRPr lang="en-US" altLang="zh-CN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、基于</a:t>
                      </a: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MPP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数据库的实时数仓</a:t>
                      </a:r>
                      <a:endParaRPr lang="en-US" altLang="zh-CN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3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、统一配置管理服务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基于数据湖的统一存储计算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0">
                          <a:latin typeface="微软雅黑" charset="0"/>
                          <a:ea typeface="微软雅黑" charset="0"/>
                        </a:rPr>
                        <a:t>业务中台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、业务中台：设备管理、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视频监控、供电监控、能源管理、乘客服务、客流监察、预案管理、行车监察、能耗监察、环境监察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1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、设备管理</a:t>
                      </a: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2.0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（预案管理融合）</a:t>
                      </a:r>
                      <a:endParaRPr lang="zh-CN" altLang="en-US" sz="900" dirty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、设备管理</a:t>
                      </a: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2.0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（物模型管理）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b="0" dirty="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900" b="0" dirty="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、辅助决策中心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</a:rPr>
                        <a:t>、业务中台能力持续完善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</a:rPr>
                        <a:t>1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</a:rPr>
                        <a:t>、业务中台能力持续完善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 b="0">
                          <a:latin typeface="微软雅黑" charset="0"/>
                          <a:ea typeface="微软雅黑" charset="0"/>
                        </a:rPr>
                        <a:t>技术中台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、通用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PaaS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：容器管理、运维管理、持续集成部署、技术组件管理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 b="0">
                          <a:solidFill>
                            <a:schemeClr val="tx1"/>
                          </a:solidFill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、云边端一体化架构提升（云边协同）</a:t>
                      </a:r>
                    </a:p>
                    <a:p>
                      <a:pPr indent="0" algn="l">
                        <a:buNone/>
                      </a:pPr>
                      <a:endParaRPr lang="zh-CN" altLang="en-US" sz="900" b="0">
                        <a:solidFill>
                          <a:schemeClr val="tx1"/>
                        </a:solidFill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、集成开发平台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1.0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：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C#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低代码框架、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API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能力集成、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Web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低代码、数据编排集成、流程编排集成</a:t>
                      </a:r>
                      <a:endParaRPr lang="zh-CN" altLang="en-US" sz="900" b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、集成开发平台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2.0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（持续优化）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、生态能力开放与集成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</a:rPr>
                        <a:t>、生态能力持续完善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、行业技术组件：用户权限、即时通讯、实时推送、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GIS/CIM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、工作流引擎、智能网关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、行业技术组件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时序数据库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基于时序分析的异常检测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、行业技术组件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信息组团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、数字孪生：可视化引擎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、行业技术组件完善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微软雅黑" charset="0"/>
                          <a:sym typeface="+mn-ea"/>
                        </a:rPr>
                        <a:t>、数字孪生：算法仿真引擎、仿真模型、数字线程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endParaRPr lang="zh-CN" altLang="en-US" sz="900">
                        <a:latin typeface="仿宋_GB2312" charset="0"/>
                        <a:ea typeface="仿宋_GB2312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AI</a:t>
                      </a:r>
                      <a:r>
                        <a:rPr lang="zh-CN" altLang="en-US" sz="105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</a:rPr>
                        <a:t>、平台能力：模型管理、模型构建、模型调度、模型服务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</a:rPr>
                        <a:t>2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</a:rPr>
                        <a:t>、算法能力：客流预测、站台门智能运维、智能节能、掌静脉识别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、算法能力：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-- AFC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智能运维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区域人员检测算法（应用于智能开关站）；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、算法能力：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区域人员检测算法优化</a:t>
                      </a: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列车运行能耗耦合仿真算法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AI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中台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1.1</a:t>
                      </a:r>
                      <a:endParaRPr lang="zh-CN" altLang="en-US" sz="900">
                        <a:latin typeface="仿宋_GB2312" charset="0"/>
                        <a:ea typeface="仿宋_GB2312" charset="0"/>
                        <a:cs typeface="仿宋_GB2312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数据标注</a:t>
                      </a:r>
                      <a:endParaRPr lang="zh-CN" altLang="en-US" sz="900">
                        <a:latin typeface="仿宋_GB2312" charset="0"/>
                        <a:ea typeface="仿宋_GB2312" charset="0"/>
                        <a:cs typeface="仿宋_GB2312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模型管理与模型服务增强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</a:rPr>
                        <a:t>完善AI中台，使之成为支撑行业算法生态的算法共享平台；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7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5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05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应用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、智慧线路</a:t>
                      </a:r>
                      <a:endParaRPr lang="zh-CN" altLang="en-US" sz="900" b="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b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2</a:t>
                      </a:r>
                      <a:r>
                        <a:rPr lang="zh-CN" altLang="en-US" sz="900" b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、智慧车站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 b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3</a:t>
                      </a:r>
                      <a:r>
                        <a:rPr lang="zh-CN" altLang="en-US" sz="900" b="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、应急指挥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应急指挥优化</a:t>
                      </a:r>
                      <a:endParaRPr lang="en-US" altLang="zh-CN" sz="900" b="1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应急联动、应急防汛</a:t>
                      </a:r>
                      <a:endParaRPr lang="en-US" altLang="zh-CN" sz="90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基于</a:t>
                      </a: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GIS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应急态势感知增强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线网指挥</a:t>
                      </a:r>
                      <a:endParaRPr lang="en-US" altLang="zh-CN" sz="900">
                        <a:latin typeface="仿宋_GB2312" charset="0"/>
                        <a:ea typeface="仿宋_GB2312" charset="0"/>
                        <a:cs typeface="仿宋_GB2312" charset="0"/>
                        <a:sym typeface="+mn-ea"/>
                      </a:endParaRP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线网应用（线路应用升级到线网）</a:t>
                      </a:r>
                    </a:p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-- </a:t>
                      </a:r>
                      <a:r>
                        <a:rPr lang="zh-CN" altLang="en-US" sz="900">
                          <a:latin typeface="仿宋_GB2312" charset="0"/>
                          <a:ea typeface="仿宋_GB2312" charset="0"/>
                          <a:cs typeface="仿宋_GB2312" charset="0"/>
                          <a:sym typeface="+mn-ea"/>
                        </a:rPr>
                        <a:t>辅助决策、运营评估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zh-CN" altLang="en-US" sz="900">
                          <a:latin typeface="仿宋_GB2312" charset="0"/>
                          <a:ea typeface="仿宋_GB2312" charset="0"/>
                        </a:rPr>
                        <a:t>线网指挥根据实际需求优化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zh-CN" altLang="en-US" sz="900" dirty="0">
                          <a:latin typeface="仿宋_GB2312" charset="0"/>
                          <a:ea typeface="仿宋_GB2312" charset="0"/>
                        </a:rPr>
                        <a:t>线网指挥根据实际需求优化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研发需求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8087" y="881979"/>
          <a:ext cx="8963660" cy="41198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0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方面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模块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功能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业务需求描述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需求来源</a:t>
                      </a:r>
                    </a:p>
                  </a:txBody>
                  <a:tcPr marL="68562" marR="68562" marT="34281" marB="342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55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平台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集成开发平台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信息组团、流程编排、服务编排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以低代码的手段，具备将平台的能力</a:t>
                      </a:r>
                      <a:r>
                        <a:rPr lang="en-US" altLang="zh-CN" sz="1050"/>
                        <a:t>/</a:t>
                      </a:r>
                      <a:r>
                        <a:rPr lang="zh-CN" altLang="en-US" sz="1050"/>
                        <a:t>服务进行编排，流程编排及信息组团；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线网指挥</a:t>
                      </a:r>
                    </a:p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3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轨交数字</a:t>
                      </a:r>
                      <a:r>
                        <a:rPr lang="en-US" altLang="zh-CN" sz="1050"/>
                        <a:t>-</a:t>
                      </a:r>
                      <a:r>
                        <a:rPr lang="zh-CN" altLang="en-US" sz="1050"/>
                        <a:t>物理平台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数字物理模型映射工作台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提供一个数字物理模型的映射连接工作台，从</a:t>
                      </a:r>
                      <a:r>
                        <a:rPr lang="en-US" altLang="zh-CN" sz="1050"/>
                        <a:t>CAD</a:t>
                      </a:r>
                      <a:r>
                        <a:rPr lang="zh-CN" altLang="en-US" sz="1050"/>
                        <a:t>图纸、</a:t>
                      </a:r>
                      <a:r>
                        <a:rPr lang="en-US" altLang="zh-CN" sz="1050"/>
                        <a:t>BIM</a:t>
                      </a:r>
                      <a:r>
                        <a:rPr lang="zh-CN" altLang="en-US" sz="1050"/>
                        <a:t>模型提取物理模型，结合点位数字属性形成数字孪生体，为全景态势感知、线网应急指挥提供基础的数字</a:t>
                      </a:r>
                      <a:r>
                        <a:rPr lang="en-US" altLang="zh-CN" sz="1050"/>
                        <a:t>-</a:t>
                      </a:r>
                      <a:r>
                        <a:rPr lang="zh-CN" altLang="en-US" sz="1050"/>
                        <a:t>物理服务；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物模型接入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数字孪生应用模型研发，完成站台门、自动售检票、CCTV、PIS物模型接入，支撑基于数字孪生模型场景化应用；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13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数据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行业数仓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行业数仓的规范化、标准化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以数据标准为主导，维度建模方法论为基础，建设轨交行业数仓标准化产品，覆盖综合监控业务、清分业务；</a:t>
                      </a:r>
                    </a:p>
                    <a:p>
                      <a:pPr>
                        <a:buNone/>
                      </a:pPr>
                      <a:r>
                        <a:rPr lang="zh-CN" altLang="en-US" sz="1050" dirty="0"/>
                        <a:t>业务赋能的数据模型研发，满足NCC对数据统计和分析的要求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1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乘客画像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标签管理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/>
                        <a:t>以标签管理功能为底座，在行业数仓的基础上，建立乘客画像标签体系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13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应用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客户端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050"/>
                        <a:t>框架</a:t>
                      </a:r>
                      <a:r>
                        <a:rPr lang="en-US" altLang="zh-CN" sz="1050"/>
                        <a:t>2.0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框架具备跨站性，适应轨交使用场景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支持工作站上的多应用管理与交互，满足监察、控制、管理类不同的业务稳定性、灵活性需求；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长沙</a:t>
                      </a:r>
                      <a:r>
                        <a:rPr lang="en-US" altLang="zh-CN" sz="1050"/>
                        <a:t>6</a:t>
                      </a:r>
                      <a:r>
                        <a:rPr lang="zh-CN" altLang="en-US" sz="1050"/>
                        <a:t>智慧地铁二期、线网指挥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1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应急指挥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50"/>
                        <a:t>1</a:t>
                      </a:r>
                      <a:r>
                        <a:rPr lang="zh-CN" altLang="en-US" sz="1050"/>
                        <a:t>、流程编排增强；</a:t>
                      </a:r>
                    </a:p>
                    <a:p>
                      <a:pPr>
                        <a:buNone/>
                      </a:pPr>
                      <a:r>
                        <a:rPr lang="en-US" altLang="zh-CN" sz="1050"/>
                        <a:t>2</a:t>
                      </a:r>
                      <a:r>
                        <a:rPr lang="zh-CN" altLang="en-US" sz="1050"/>
                        <a:t>、应急场景增强；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50"/>
                        <a:t>1</a:t>
                      </a:r>
                      <a:r>
                        <a:rPr lang="zh-CN" altLang="en-US" sz="1050"/>
                        <a:t>）增强应急指挥的流程编排能力，满足应急指挥的联动要求；</a:t>
                      </a:r>
                    </a:p>
                    <a:p>
                      <a:pPr>
                        <a:buNone/>
                      </a:pPr>
                      <a:r>
                        <a:rPr lang="en-US" altLang="zh-CN" sz="1050"/>
                        <a:t>2</a:t>
                      </a:r>
                      <a:r>
                        <a:rPr lang="zh-CN" altLang="en-US" sz="1050"/>
                        <a:t>）进一步拓展和落地应急场景，支持长沙</a:t>
                      </a:r>
                      <a:r>
                        <a:rPr lang="en-US" altLang="zh-CN" sz="1050"/>
                        <a:t>6</a:t>
                      </a:r>
                      <a:r>
                        <a:rPr lang="zh-CN" altLang="en-US" sz="1050"/>
                        <a:t>二期需求；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长沙</a:t>
                      </a:r>
                      <a:r>
                        <a:rPr lang="en-US" altLang="zh-CN" sz="1050"/>
                        <a:t>6</a:t>
                      </a:r>
                      <a:r>
                        <a:rPr lang="zh-CN" altLang="en-US" sz="1050"/>
                        <a:t>智慧地铁二期、线网指挥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50"/>
                        <a:t>线网指挥调度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可视化编排</a:t>
                      </a:r>
                      <a:r>
                        <a:rPr lang="en-US" altLang="zh-CN" sz="1050"/>
                        <a:t>/</a:t>
                      </a:r>
                      <a:r>
                        <a:rPr lang="zh-CN" altLang="en-US" sz="1050"/>
                        <a:t>信息组团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通过工作站和大屏幕监视各线运行列车、客流、设备系统的状态信息，完成行车调度、客流调度、设备调度、供电调度、CCTV监视及主要设备性能、维修状态的监视，实现多专业系统信息的组团显示。满足</a:t>
                      </a:r>
                      <a:r>
                        <a:rPr lang="zh-CN" altLang="en-US" sz="1050" dirty="0"/>
                        <a:t>南昌线网指挥功能需求；</a:t>
                      </a:r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/>
                        <a:t>长沙</a:t>
                      </a:r>
                      <a:r>
                        <a:rPr lang="en-US" altLang="zh-CN" sz="1050"/>
                        <a:t>6</a:t>
                      </a:r>
                      <a:r>
                        <a:rPr lang="zh-CN" altLang="en-US" sz="1050"/>
                        <a:t>智慧地铁二期、线网指挥</a:t>
                      </a:r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产品研发进展</a:t>
            </a:r>
            <a:r>
              <a:rPr lang="en-US" altLang="zh-CN"/>
              <a:t>/</a:t>
            </a:r>
            <a:r>
              <a:rPr lang="zh-CN" altLang="en-US"/>
              <a:t>数字物理平台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48" y="697383"/>
            <a:ext cx="5024082" cy="432084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8755" y="716280"/>
            <a:ext cx="3285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研发进展：</a:t>
            </a:r>
          </a:p>
          <a:p>
            <a:r>
              <a:rPr lang="zh-CN" altLang="en-US"/>
              <a:t>「夏晨补充」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产品研发进展</a:t>
            </a:r>
            <a:r>
              <a:rPr lang="en-US" altLang="zh-CN"/>
              <a:t>/</a:t>
            </a:r>
            <a:r>
              <a:rPr lang="zh-CN" altLang="en-US"/>
              <a:t>客户端框架</a:t>
            </a:r>
            <a:r>
              <a:rPr lang="en-US" altLang="zh-CN"/>
              <a:t>2.0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CD81153-03B9-CE33-D7DF-D817586C20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92777"/>
              </p:ext>
            </p:extLst>
          </p:nvPr>
        </p:nvGraphicFramePr>
        <p:xfrm>
          <a:off x="261472" y="513776"/>
          <a:ext cx="8621054" cy="4081141"/>
        </p:xfrm>
        <a:graphic>
          <a:graphicData uri="http://schemas.openxmlformats.org/drawingml/2006/table">
            <a:tbl>
              <a:tblPr/>
              <a:tblGrid>
                <a:gridCol w="748007">
                  <a:extLst>
                    <a:ext uri="{9D8B030D-6E8A-4147-A177-3AD203B41FA5}">
                      <a16:colId xmlns:a16="http://schemas.microsoft.com/office/drawing/2014/main" val="456207126"/>
                    </a:ext>
                  </a:extLst>
                </a:gridCol>
                <a:gridCol w="975253">
                  <a:extLst>
                    <a:ext uri="{9D8B030D-6E8A-4147-A177-3AD203B41FA5}">
                      <a16:colId xmlns:a16="http://schemas.microsoft.com/office/drawing/2014/main" val="147960593"/>
                    </a:ext>
                  </a:extLst>
                </a:gridCol>
                <a:gridCol w="506565">
                  <a:extLst>
                    <a:ext uri="{9D8B030D-6E8A-4147-A177-3AD203B41FA5}">
                      <a16:colId xmlns:a16="http://schemas.microsoft.com/office/drawing/2014/main" val="3997719293"/>
                    </a:ext>
                  </a:extLst>
                </a:gridCol>
                <a:gridCol w="743274">
                  <a:extLst>
                    <a:ext uri="{9D8B030D-6E8A-4147-A177-3AD203B41FA5}">
                      <a16:colId xmlns:a16="http://schemas.microsoft.com/office/drawing/2014/main" val="2798542509"/>
                    </a:ext>
                  </a:extLst>
                </a:gridCol>
                <a:gridCol w="828493">
                  <a:extLst>
                    <a:ext uri="{9D8B030D-6E8A-4147-A177-3AD203B41FA5}">
                      <a16:colId xmlns:a16="http://schemas.microsoft.com/office/drawing/2014/main" val="3704973447"/>
                    </a:ext>
                  </a:extLst>
                </a:gridCol>
                <a:gridCol w="828493">
                  <a:extLst>
                    <a:ext uri="{9D8B030D-6E8A-4147-A177-3AD203B41FA5}">
                      <a16:colId xmlns:a16="http://schemas.microsoft.com/office/drawing/2014/main" val="2347698439"/>
                    </a:ext>
                  </a:extLst>
                </a:gridCol>
                <a:gridCol w="828493">
                  <a:extLst>
                    <a:ext uri="{9D8B030D-6E8A-4147-A177-3AD203B41FA5}">
                      <a16:colId xmlns:a16="http://schemas.microsoft.com/office/drawing/2014/main" val="3859007576"/>
                    </a:ext>
                  </a:extLst>
                </a:gridCol>
                <a:gridCol w="790619">
                  <a:extLst>
                    <a:ext uri="{9D8B030D-6E8A-4147-A177-3AD203B41FA5}">
                      <a16:colId xmlns:a16="http://schemas.microsoft.com/office/drawing/2014/main" val="1141553358"/>
                    </a:ext>
                  </a:extLst>
                </a:gridCol>
                <a:gridCol w="790619">
                  <a:extLst>
                    <a:ext uri="{9D8B030D-6E8A-4147-A177-3AD203B41FA5}">
                      <a16:colId xmlns:a16="http://schemas.microsoft.com/office/drawing/2014/main" val="2560731498"/>
                    </a:ext>
                  </a:extLst>
                </a:gridCol>
                <a:gridCol w="790619">
                  <a:extLst>
                    <a:ext uri="{9D8B030D-6E8A-4147-A177-3AD203B41FA5}">
                      <a16:colId xmlns:a16="http://schemas.microsoft.com/office/drawing/2014/main" val="3069457783"/>
                    </a:ext>
                  </a:extLst>
                </a:gridCol>
                <a:gridCol w="790619">
                  <a:extLst>
                    <a:ext uri="{9D8B030D-6E8A-4147-A177-3AD203B41FA5}">
                      <a16:colId xmlns:a16="http://schemas.microsoft.com/office/drawing/2014/main" val="1388153077"/>
                    </a:ext>
                  </a:extLst>
                </a:gridCol>
              </a:tblGrid>
              <a:tr h="14825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一级任务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二级任务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负责人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计划开始日期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计划结束日期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实际开始时间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实际结束时间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工作量评估</a:t>
                      </a:r>
                      <a:r>
                        <a:rPr lang="en-US" altLang="zh-CN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单位：天</a:t>
                      </a:r>
                      <a:r>
                        <a:rPr lang="en-US" altLang="zh-CN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进度</a:t>
                      </a:r>
                      <a:endParaRPr lang="en-US" altLang="zh-CN" sz="500" b="1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项目问题</a:t>
                      </a:r>
                      <a:endParaRPr lang="en-US" altLang="zh-CN" sz="500" b="1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b="1" dirty="0">
                          <a:solidFill>
                            <a:srgbClr val="FFFFFF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风险</a:t>
                      </a:r>
                      <a:endParaRPr lang="en-US" altLang="zh-CN" sz="500" b="1" dirty="0">
                        <a:solidFill>
                          <a:srgbClr val="FFFFFF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822140"/>
                  </a:ext>
                </a:extLst>
              </a:tr>
              <a:tr h="153952">
                <a:tc rowSpan="5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客户端框架搭建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客户端界面开发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邹万茂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客户端界面呈现方案未确定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64965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Prism</a:t>
                      </a:r>
                      <a:r>
                        <a:rPr lang="zh-CN" alt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框架升级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452889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事件总线方案设计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2023/4/19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172404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视图容器搭建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2023/4/26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2023/4/30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893921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AOP</a:t>
                      </a:r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技术实现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656962"/>
                  </a:ext>
                </a:extLst>
              </a:tr>
              <a:tr h="102575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业务应用框架设计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页面样式设计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2023/4/18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界面通用样式未确定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888688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页面路由方法设计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2023/4/21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2023/5/6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2023/5/12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047139"/>
                  </a:ext>
                </a:extLst>
              </a:tr>
              <a:tr h="156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页面自动跳转方案设计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2023/5/16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方案已确定并进行了部分代码实现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有长沙</a:t>
                      </a: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交付任务，导致开发进度滞后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29866"/>
                  </a:ext>
                </a:extLst>
              </a:tr>
              <a:tr h="156045">
                <a:tc row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多进程方案设计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进程状态管理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有长沙</a:t>
                      </a: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交付任务，导致开发进度滞后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315425"/>
                  </a:ext>
                </a:extLst>
              </a:tr>
              <a:tr h="2211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进程间通讯技术实现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2023/5/9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方案已确定并进行了技术验证，具体代码未实现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有长沙</a:t>
                      </a: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交付任务，导致开发进度滞后</a:t>
                      </a:r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857009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通信信息标准设计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kumimoji="0" lang="en-US" altLang="zh-CN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081914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信息加密方法设计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2023/5/26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2023/5/29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kumimoji="0" lang="en-US" altLang="zh-CN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85856"/>
                  </a:ext>
                </a:extLst>
              </a:tr>
              <a:tr h="102575">
                <a:tc rowSpan="2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数据持久化存储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技术选型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邹万茂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82889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技术实现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邹万茂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2023/5/28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2023/5/31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5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kumimoji="0" lang="en-US" altLang="zh-CN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en-US" altLang="zh-CN" sz="5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743239"/>
                  </a:ext>
                </a:extLst>
              </a:tr>
              <a:tr h="115467">
                <a:tc rowSpan="5"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控件库设计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sz="50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LiveCharts</a:t>
                      </a:r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图表控件升级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2023/6/6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052562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en-US" sz="500" kern="1200" dirty="0" err="1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CefSharp</a:t>
                      </a:r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控件重构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2023/4/30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2023/5/4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107604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视频控件重构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2023/6/9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2023/6/15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5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403569"/>
                  </a:ext>
                </a:extLst>
              </a:tr>
              <a:tr h="156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规范业务控件设计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王文超、陈梓炯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2023/6/25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7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55185"/>
                  </a:ext>
                </a:extLst>
              </a:tr>
              <a:tr h="156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网页版控件库设计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陈梓炯、王文超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2023/7/13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7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325505"/>
                  </a:ext>
                </a:extLst>
              </a:tr>
              <a:tr h="102575">
                <a:tc rowSpan="3"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业务工作流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工作流引擎技术选型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2023/7/12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3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179266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技术实现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2023/7/13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lang="en-US" altLang="zh-CN" sz="500" kern="1200" noProof="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527467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界面流程方案设计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2023/7/21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2023/7/31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7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941284"/>
                  </a:ext>
                </a:extLst>
              </a:tr>
              <a:tr h="102575">
                <a:tc rowSpan="8"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辅助工具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业务应用管理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邹万茂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9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522201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应用状态监控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lang="en-US" altLang="zh-CN" sz="500" kern="1200" noProof="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72765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应用版本管理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470446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日志管理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邹万茂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2023/8/12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2023/8/17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292239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资源管理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2023/8/15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  <a:endParaRPr lang="en-US" altLang="zh-CN" sz="500" kern="1200" noProof="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702990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配置管理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2023/8/18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2023/8/23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244491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流程管理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王文超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2023/8/20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2023/8/28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87266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网络监控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翁泽鹏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2023/9/1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2023/9/4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776256"/>
                  </a:ext>
                </a:extLst>
              </a:tr>
              <a:tr h="156045">
                <a:tc rowSpan="2"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界面编辑器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编辑器融合方案设计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陈梓炯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2023/5/4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2023/5/23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14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有长沙</a:t>
                      </a:r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交付任务，导致开发进度滞后</a:t>
                      </a:r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098094"/>
                  </a:ext>
                </a:extLst>
              </a:tr>
              <a:tr h="1025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500" kern="120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编辑器融合技术实现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陈梓炯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2023/5/24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2023/7/1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500" kern="120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28 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500" kern="1200" noProof="0" dirty="0"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0%</a:t>
                      </a: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endParaRPr lang="en-US" altLang="zh-CN" sz="500" kern="12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30207" marR="30207" marT="15103" marB="1510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66638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C0C28-87D2-1858-A950-8153DA62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6782A-85B6-FC01-B48F-BFA0A2F8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012" y="777825"/>
            <a:ext cx="5659975" cy="358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8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产品研发进展</a:t>
            </a:r>
            <a:r>
              <a:rPr lang="en-US" altLang="zh-CN"/>
              <a:t>/</a:t>
            </a:r>
            <a:r>
              <a:rPr lang="zh-CN" altLang="en-US"/>
              <a:t>应急指挥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1770" y="682625"/>
            <a:ext cx="328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研发进展：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100" y="1132840"/>
            <a:ext cx="5422900" cy="382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产品研发进展</a:t>
            </a:r>
            <a:r>
              <a:rPr lang="en-US" altLang="zh-CN"/>
              <a:t>/</a:t>
            </a:r>
            <a:r>
              <a:rPr lang="zh-CN" altLang="en-US"/>
              <a:t>线网指挥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1770" y="682625"/>
            <a:ext cx="328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研发进展：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025" y="682625"/>
            <a:ext cx="5831205" cy="409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华佳</a:t>
            </a:r>
            <a:r>
              <a:rPr lang="en-US" altLang="zh-CN"/>
              <a:t>Mos2.0 -- </a:t>
            </a:r>
            <a:r>
              <a:rPr lang="zh-CN" altLang="en-US"/>
              <a:t>项目问题及风险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5737545"/>
              </p:ext>
            </p:extLst>
          </p:nvPr>
        </p:nvGraphicFramePr>
        <p:xfrm>
          <a:off x="606425" y="891540"/>
          <a:ext cx="7486650" cy="33604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0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 dirty="0"/>
                        <a:t>序号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问题及风险说明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当前进展情况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解决措施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责任人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计划完成时间</a:t>
                      </a:r>
                    </a:p>
                  </a:txBody>
                  <a:tcPr marL="68562" marR="68562" marT="34281" marB="342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智能运维</a:t>
            </a:r>
            <a:r>
              <a:rPr lang="en-US" altLang="zh-CN"/>
              <a:t> -- </a:t>
            </a:r>
            <a:r>
              <a:rPr lang="zh-CN" altLang="en-US"/>
              <a:t>整体产品路线图</a:t>
            </a:r>
            <a:r>
              <a:rPr lang="en-US" altLang="zh-CN"/>
              <a:t>XXX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2585" y="1232535"/>
            <a:ext cx="2388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希光补充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智能运维</a:t>
            </a:r>
            <a:r>
              <a:rPr lang="en-US" altLang="zh-CN"/>
              <a:t> -- </a:t>
            </a:r>
            <a:r>
              <a:rPr lang="zh-CN" altLang="en-US"/>
              <a:t>产品研发进展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1770" y="682625"/>
            <a:ext cx="3285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研发进展：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智能运维</a:t>
            </a:r>
            <a:r>
              <a:rPr lang="en-US" altLang="zh-CN"/>
              <a:t> -- </a:t>
            </a:r>
            <a:r>
              <a:rPr lang="zh-CN" altLang="en-US"/>
              <a:t>项目问题及风险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06425" y="891540"/>
          <a:ext cx="7486650" cy="33604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3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09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序号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问题及风险说明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当前进展情况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解决措施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责任人</a:t>
                      </a:r>
                    </a:p>
                  </a:txBody>
                  <a:tcPr marL="68562" marR="68562" marT="34281" marB="34281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10"/>
                        <a:t>计划完成时间</a:t>
                      </a:r>
                    </a:p>
                  </a:txBody>
                  <a:tcPr marL="68562" marR="68562" marT="34281" marB="3428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93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/>
                    </a:p>
                  </a:txBody>
                  <a:tcPr marL="68562" marR="68562" marT="34281" marB="342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ef88ba7-c6cf-43e3-9303-44c4ee227efc"/>
  <p:tag name="COMMONDATA" val="eyJoZGlkIjoiMGE2NjRjMWY3Mjg0ZmZmMTZjNGFiN2I2NjYwM2VkY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1d1637c-d016-4a8f-9605-2adae3ef4461}"/>
  <p:tag name="TABLE_ENDDRAG_ORIGIN_RECT" val="948*457"/>
  <p:tag name="TABLE_ENDDRAG_RECT" val="4*47*948*4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b6269c6-f17c-4d40-a02d-62c2b900683a}"/>
  <p:tag name="TABLE_ENDDRAG_ORIGIN_RECT" val="934*400"/>
  <p:tag name="TABLE_ENDDRAG_RECT" val="6*92*934*4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b6269c6-f17c-4d40-a02d-62c2b900683a}"/>
  <p:tag name="TABLE_ENDDRAG_ORIGIN_RECT" val="589*264"/>
  <p:tag name="TABLE_ENDDRAG_RECT" val="32*196*589*26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b6269c6-f17c-4d40-a02d-62c2b900683a}"/>
  <p:tag name="TABLE_ENDDRAG_ORIGIN_RECT" val="589*264"/>
  <p:tag name="TABLE_ENDDRAG_RECT" val="32*196*589*264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2074</Words>
  <Application>Microsoft Office PowerPoint</Application>
  <PresentationFormat>全屏显示(16:9)</PresentationFormat>
  <Paragraphs>403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仿宋_GB2312</vt:lpstr>
      <vt:lpstr>Microsoft YaHei</vt:lpstr>
      <vt:lpstr>Microsoft YaHei</vt:lpstr>
      <vt:lpstr>Arial</vt:lpstr>
      <vt:lpstr>Calibri</vt:lpstr>
      <vt:lpstr>Calibri Light</vt:lpstr>
      <vt:lpstr>Office 主题</vt:lpstr>
      <vt:lpstr>PowerPoint 演示文稿</vt:lpstr>
      <vt:lpstr>华佳Mos -- 整体产品路线图</vt:lpstr>
      <vt:lpstr>华佳Mos2.0 -- 研发需求</vt:lpstr>
      <vt:lpstr>华佳Mos2.0 -- 产品研发进展/数字物理平台</vt:lpstr>
      <vt:lpstr>华佳Mos2.0 -- 产品研发进展/客户端框架2.0</vt:lpstr>
      <vt:lpstr>PowerPoint 演示文稿</vt:lpstr>
      <vt:lpstr>华佳Mos2.0 -- 产品研发进展/应急指挥</vt:lpstr>
      <vt:lpstr>华佳Mos2.0 -- 产品研发进展/线网指挥</vt:lpstr>
      <vt:lpstr>华佳Mos2.0 -- 项目问题及风险</vt:lpstr>
      <vt:lpstr>智能运维 -- 整体产品路线图XXX</vt:lpstr>
      <vt:lpstr>智能运维 -- 产品研发进展</vt:lpstr>
      <vt:lpstr>智能运维 -- 项目问题及风险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王 文超</cp:lastModifiedBy>
  <cp:revision>2046</cp:revision>
  <cp:lastPrinted>2023-05-17T02:31:06Z</cp:lastPrinted>
  <dcterms:created xsi:type="dcterms:W3CDTF">2023-05-17T02:31:06Z</dcterms:created>
  <dcterms:modified xsi:type="dcterms:W3CDTF">2023-05-17T07:47:28Z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KSOProductBuildVer">
    <vt:lpwstr>2052-5.4.0.7913</vt:lpwstr>
  </property>
  <property fmtid="{D5CDD505-2E9C-101B-9397-08002B2CF9AE}" pid="4" name="ICV">
    <vt:lpwstr>57A5ED938F3A4DC6F3596364FA3D68B2_43</vt:lpwstr>
  </property>
</Properties>
</file>